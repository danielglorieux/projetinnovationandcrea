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9184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57200"/>
            <a:ext cx="2103120" cy="2103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4A300"/>
                </a:solidFill>
                <a:latin typeface="Calibri"/>
              </a:rPr>
              <a:t>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INNOVATION DANS LE
DOMAINE DE L'ÉNERGIE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9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4A300"/>
                </a:solidFill>
                <a:latin typeface="Calibri"/>
              </a:rPr>
              <a:t>Systèmes Solaires Off-Grid Pay-As-You-Go : le cas ENGIE Africa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Innovation &amp; Créativité  •  S8 IA &amp; Informatique  •  Institut 2IE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228600" cy="5760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624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Revue de littérature — Le domaine de l'énergie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756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Identification de la solution innovante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5234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Description de la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65576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6557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02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En quoi est-ce une innovation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78808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788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153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Forces et limites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286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Améliorations proposées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05272"/>
            <a:ext cx="640080" cy="5029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052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D5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418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A407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REVUE DE LITTÉRATURE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A300"/>
                </a:solidFill>
                <a:latin typeface="Calibri"/>
              </a:rPr>
              <a:t>Le domaine de l'énergie — contexte mondial et africain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01 · Revue de littérature — Contexte &amp; enjeux mondiaux / africains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  <a:latin typeface="Calibri"/>
              </a:rPr>
              <a:t>CONTEXTE MONDIAL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Transition énergétique : passage des combustibles fossiles vers les énergies renouvelables (solaire, éolien, hydraulique)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Accord de Paris (2015) : objectif de neutralité carbone avant 2050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Coûts du solaire PV : –90 % en 10 ans (IRENA 2023)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Smart Grids : numérisation des réseaux électriques pour optimiser la distribution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Hydrogène vert &amp; stockage : nouvelles frontières pour décarboner l'industrie lourde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34440"/>
            <a:ext cx="58064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300"/>
                </a:solidFill>
                <a:latin typeface="Calibri"/>
              </a:rPr>
              <a:t>DÉFIS EN AFRIQUE SUBSAHARIENNE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600 millions de personnes sans accès à l'électricité (AIE 2023)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Réseaux centralisés sous-dimensionnés et coûteux à étendre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Forte irradiation solaire : 5–7 kWh/m²/jour en moyenne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Croissance démographique rapide (+2,7 %/an) → demande croissante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Solutions off-grid &amp; mini-réseaux : levier majeur d'accès à l'énergie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▸ Financement innovant indispensable (PAYG, microfinance)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01 · Revue de littérature — Tendances &amp; gap identifié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0D2D5A"/>
                </a:solidFill>
                <a:latin typeface="Calibri"/>
              </a:rPr>
              <a:t>Principales tendances &amp; innovations recensées dans la littérature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7432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⚡  Stockage d'énergie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Batteries Li-ion, flow batteries,
stockage thermique → intermittence résolue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7432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☀  Solaire distribué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Panneaux sur toiture, kits solaires,
PAYG → démocratisation de l'accès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2743200" cy="109728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🌐  IoT &amp; Smart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Compteurs intelligents, pilotage
distant, équilibrage automatique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828800"/>
            <a:ext cx="27432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🤖  IA &amp; Prédiction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Prévision de la demande, maintenance
prédictive, optimisation tarifaire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115214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D5A"/>
                </a:solidFill>
                <a:latin typeface="Calibri"/>
              </a:rPr>
              <a:t>GAP IDENTIFIÉ → OPPORTUNITÉ D'INNOVATION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49039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→  En Afrique subsaharienne, 600 M de personnes sans électricité vivent dans des zones où étendre le réseau centralisé est économiquement non viable.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→  La littérature identifie une convergence : IoT bas-coût + kits solaires + modèle PAYG (paiement mobile) = solution scalable et abordable.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→  C'est précisément le modèle exploité par ENGIE Africa (ex-Fenix International) avec son produit ReadyPay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A407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LA SOLUTION INNOVANTE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A300"/>
                </a:solidFill>
                <a:latin typeface="Calibri"/>
              </a:rPr>
              <a:t>ENGIE Africa — Système solaire off-grid Pay-As-You-Go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02 · Identification — Pourquoi ENGIE Africa ReadyPay Power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00584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ENGIE Africa — ReadyPay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A300"/>
                </a:solidFill>
                <a:latin typeface="Calibri"/>
              </a:rPr>
              <a:t>Système solaire off-grid avec paiement mobile (Pay-As-You-Go)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C1C2E"/>
                </a:solidFill>
                <a:latin typeface="Calibri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Présence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Ouganda, Zambie, Côte d'Ivoire,
Niger, Mozambique, Cameroun...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42316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C1C2E"/>
                </a:solidFill>
                <a:latin typeface="Calibri"/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1,5 M+ foyers connectés
(~8 millions de personnes)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42316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C1C2E"/>
                </a:solidFill>
                <a:latin typeface="Calibri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Technologie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IoT + paiement mobile
(M-Pesa, MTN MoMo, Orange Money)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42316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C1C2E"/>
                </a:solidFill>
                <a:latin typeface="Calibri"/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Modèle éco.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PAYG : paiement fractionné
dès 0,15 $/jour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60520"/>
            <a:ext cx="1152144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  <a:latin typeface="Calibri"/>
              </a:rPr>
              <a:t>POURQUOI CE CHOIX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✔  Solution existante, déployée à grande échelle → données réelles disponibles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✔  Convergence unique : énergie renouvelable + IoT + IA + financement innovant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✔  Répond directement au gap identifié dans la revue de littérature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✔  Contexte africain : particulièrement pertinent pour 2IE et le Burkina Faso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03 · Description de la solution — Architecture technique &amp; fonctionnement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71323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D5A"/>
                </a:solidFill>
                <a:latin typeface="Calibri"/>
              </a:rPr>
              <a:t>COMPOSANTES DU SYSTÈME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68580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☀  Kit solaire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8366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Panneau 20–100 W, batterie LiFePO4,
contrôleur de charge MPPT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68580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523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💡  Appareils connectés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5234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Lampes LED, radio, chargeur USB,
téléviseur (pack standard)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68580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210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📡  Module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6210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Microcontrôleur + SIM M2M : télémétrie
en temps réel, contrôle à distance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34840"/>
            <a:ext cx="68580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970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📲  Application PAYG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489703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Client paie via mobile money → serveur
cloud envoie un token → kit débloqué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303520"/>
            <a:ext cx="68580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D5A"/>
                </a:solidFill>
                <a:latin typeface="Calibri"/>
              </a:rPr>
              <a:t>☁  Plateforme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358383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Calibri"/>
              </a:rPr>
              <a:t>Analyse données, maintenance
prédictive, gestion des abonnements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188720"/>
            <a:ext cx="4114800" cy="521208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12801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300"/>
                </a:solidFill>
                <a:latin typeface="Calibri"/>
              </a:rPr>
              <a:t>COMMENT ÇA
FONCTIONNE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031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Le client acquiert un kit solaire sans apport initial (ou avec faible dépôt)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432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 Il paie quotidiennement / hebdomadairement via son téléphone 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38327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3. Le paiement débloque un code d'activation envoyé par SMS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5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4. Le module IoT valide le code → le système s'active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663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5. Après ~18 mois de paiements, le kit lui appartient définitivement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3035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6. La plateforme cloud surveille la santé du système et prévient les pannes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A407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ANALYSE DE L'INNOVATION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A300"/>
                </a:solidFill>
                <a:latin typeface="Calibri"/>
              </a:rPr>
              <a:t>Nouveauté · Usage réel · Valeur créée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04 · En quoi est-ce une innovation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212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🆕  NOUVEAUTÉ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3749039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Première combinaison à grande échelle de : solaire off-grid + IoT embarqué + mobile money + PAYG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Brevet sur le système de contrôle tokenisé (GSMA PAYG standard)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Rupture par rapport aux générateurs diesel ou aux bougies : fiabilité, propreté, coût dégressif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749039" cy="5212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✅  USAGE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920240"/>
            <a:ext cx="3749039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1,5 M+ foyers équipés dans 6 pays africains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Taux d'adoption &gt; 80 % après 1 an (études terrain Ouganda 2022)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Réduction de 70 % des dépenses en éclairage vs kérosène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Données d'usage collectées en temps réel → amélioration continue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88720"/>
            <a:ext cx="3749039" cy="521208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💎  VALEUR CRÉÉE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920240"/>
            <a:ext cx="3749039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Économique : économies sur kérosène, chargement téléphone, batteries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Sociale : scolarité améliorée (éclairage le soir), accès à l'info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Environnementale : -1,5 t CO₂/an/foyer par rapport au kérosène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→  Financière : historique de crédit → accès ultérieur à la microfinance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46520"/>
            <a:ext cx="11521440" cy="292608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Selon le cours (Module I) : « L'innovation = transformation d'une idée en réponse concrète, utile et durable »  ✓ Les 3 critères sont remplis.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A407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FORCES &amp;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A300"/>
                </a:solidFill>
                <a:latin typeface="Calibri"/>
              </a:rPr>
              <a:t>Analyse critique de la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05 · Forces et limites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5778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⬆ 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Modèle économique inclusif — sans apport initial → accessible aux ménages à faibles revenus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Scalabilité démontrée — déjà 1,5 M+ foyers dans 6+ pays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Données en temps réel — IoT permet la maintenance prédictive et réduit le taux de pannes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Impact carbone mesurable — -1,5 t CO₂/foyer/an vs kérosène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Création d'un historique de crédit pour les utilisateurs non bancarisés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Aligné sur les ODD : #7 Énergie propre, #1 Fin de pauvreté, #13 Climat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6B3A"/>
                </a:solidFill>
                <a:latin typeface="Calibri"/>
              </a:rPr>
              <a:t>✔  Emplois locaux — techniciens de maintenance, agents de vente communautaires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⬇  LIMITES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Dépendance à la couverture réseau mobile — zones blanches non couvertes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Capacité limitée (20–100 W) — insuffisante pour réfrigération, pompage, industrie artisanale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Risque de surendettement — accumulation de plusieurs crédits PAYG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Obsolescence technologique — batteries dégradées après 3–5 ans, recyclage peu organisé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Concentration de marché — quelques acteurs dominent, risque de monopole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Dépendance aux devises étrangères pour l'importation des composants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7B1A14"/>
                </a:solidFill>
                <a:latin typeface="Calibri"/>
              </a:rPr>
              <a:t>✘  Données personnelles &amp; vie privée — télémétrie IoT soulève des enjeux éthiques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11247120" cy="4572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A407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AMÉLIORATIONS PROPOSÉES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A300"/>
                </a:solidFill>
                <a:latin typeface="Calibri"/>
              </a:rPr>
              <a:t>Dépasser les limites identifiées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06 · Améliorations &amp; alternatives envisagées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D2D5A"/>
                </a:solidFill>
                <a:latin typeface="Calibri"/>
              </a:rPr>
              <a:t>Face aux limites identifiées, deux améliorations complémentaires sont proposées 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21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74320" cy="2286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D5A"/>
                </a:solidFill>
                <a:latin typeface="Calibri"/>
              </a:rPr>
              <a:t>AMÉLIORATION 1 — Mini-réseau mutualisé avec stockage collectif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CONCEPT : grouper 20–50 foyers autour d'un onduleur collectif + banque de batteries de 5–10 kWh → partage de la capacité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JUSTIFICATION : résout la limite de puissance individuelle (réfrigérateur communautaire, pompe eau) ; réduit le coût par kWh de 30–40 %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MISE EN ŒUVRE : coupler au modèle PAYG existant avec facturation proportionnelle à la consommation (compteurs IoT individuels)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INSPIRATION : approche Lean — partir du minimum viable (kits individuels) et évoluer vers le collectif selon la demande terrain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51960"/>
            <a:ext cx="115214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251960"/>
            <a:ext cx="27432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D5A"/>
                </a:solidFill>
                <a:latin typeface="Calibri"/>
              </a:rPr>
              <a:t>AMÉLIORATION 2 — Module IA de prédiction &amp; conseil personnalisé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6460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CONCEPT : exploiter les données IoT (courbes de charge, historique de paiement) pour entraîner un modèle ML léger (Random Forest / LightGBM)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FONCTIONS : (1) détecter les risques de défaut de paiement 2 semaines à l'avance → intervention proactive ; (2) recommander l'upgrade de kit adapté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JUSTIFICATION : réduit le taux d'attrition (-15 à 20 % estimé), augmente le revenu par client, renforce la fidélisation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C1C2E"/>
                </a:solidFill>
                <a:latin typeface="Calibri"/>
              </a:rPr>
              <a:t>▸  ÉTHIQUE : modèle explicable (SHAP values), consentement utilisateur pour la collecte, données anonymisées — aligné Module V du cours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247120" cy="64008"/>
          </a:xfrm>
          <a:prstGeom prst="rect">
            <a:avLst/>
          </a:prstGeom>
          <a:solidFill>
            <a:srgbClr val="F4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★  L'énergie off-grid PAYG (ENGIE Africa) est une innovation systémique : elle combine technique, numérique, financement et usage social.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★  Elle répond aux critères du cours : nouveauté réelle, adoption massive, valeur créée mesurable pour la société et l'environnement.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★  Ses limites (couverture, capacité, recyclage) sont des opportunités de recherche et d'amélioration — c'est la logique Lean.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★  Les 2 améliorations proposées (mini-réseau collectif + IA prédictive) s'appuient sur les outils du numérique pour amplifier l'impact.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114800"/>
            <a:ext cx="10972800" cy="64008"/>
          </a:xfrm>
          <a:prstGeom prst="rect">
            <a:avLst/>
          </a:prstGeom>
          <a:solidFill>
            <a:srgbClr val="1A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4A300"/>
                </a:solidFill>
                <a:latin typeface="Calibri"/>
              </a:rPr>
              <a:t>« L'innovation responsable consiste à anticiper les effets de nos solutions
et à concevoir pour un impact durable.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  <a:latin typeface="Calibri"/>
              </a:rPr>
              <a:t>— Module V, cours Innovation &amp; Créativité, 2IE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Merci pour votre attention  · 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