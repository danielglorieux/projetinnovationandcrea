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000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INNOVATION DANS LE SECTEUR DE L'EAU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00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6C6DA"/>
                </a:solidFill>
                <a:latin typeface="Calibri"/>
              </a:rPr>
              <a:t>AquaIA : Surveillance intelligente des eaux souterraines par IA et IoT au Sahel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00000"/>
            <a:ext cx="7315200" cy="36576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Calibri"/>
              </a:rPr>
              <a:t>Cours : Challenge Innovation – S8 IA &amp; Informatique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Calibri"/>
              </a:rPr>
              <a:t>Institut 2iE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00000"/>
            <a:ext cx="8229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Calibri"/>
              </a:rPr>
              <a:t>Membres du groupe |  BAKOUAN Jean de Dieu
		        ILBOUDO Daniel Glorieux
		        KONE Zana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88825" cy="64008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Exercice pratique – Projet d'innovation (projet inexistant)</a:t>
            </a:r>
          </a:p>
        </p:txBody>
      </p:sp>
      <p:sp>
        <p:nvSpPr>
          <p:cNvPr id="12" name="Oval 11"/>
          <p:cNvSpPr/>
          <p:nvPr/>
        </p:nvSpPr>
        <p:spPr>
          <a:xfrm>
            <a:off x="9800000" y="400000"/>
            <a:ext cx="1800000" cy="1800000"/>
          </a:xfrm>
          <a:prstGeom prst="ellipse">
            <a:avLst/>
          </a:prstGeom>
          <a:solidFill>
            <a:srgbClr val="009BD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2188825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0" cy="50292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173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Calibri"/>
              </a:rPr>
              <a:t>Revue de littérature – Le secteur de l'eau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640080" cy="50292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Calibri"/>
              </a:rPr>
              <a:t>Présentation de la solution : AquaIA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640080" cy="50292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Calibri"/>
              </a:rPr>
              <a:t>En quoi est-ce une innovation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640080" cy="50292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Calibri"/>
              </a:rPr>
              <a:t>Forces et limites de la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640080" cy="50292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77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Calibri"/>
              </a:rPr>
              <a:t>Améliorations et alternatives proposées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640080" cy="50292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17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Calibri"/>
              </a:rPr>
              <a:t>01  REVUE DE LITTÉRATURE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Contexte Mondial de l'Eau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00000" cy="48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12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Enjeux globaux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12568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2,2 milliards de personnes n'ont pas accès à l'eau potable (OMS/UNICEF, 2023)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4 milliards subissent un stress hydrique sévère au moins 1 mois/an (UNESCO, 2024)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D'ici 2050, la demande en eau augmentera de 55 % (OCDE)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Le changement climatique aggrave les sécheresses au Sahel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8640" y="1371600"/>
            <a:ext cx="3400000" cy="48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5800" y="1508760"/>
            <a:ext cx="312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Situation au Sahel / Burkina Faso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5800" y="1920240"/>
            <a:ext cx="312568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54 % de la population du Burkina Faso dépend des eaux souterraines (DGRE, 2022)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30 % des forages tombent en panne chaque année par manque de suivi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Nappe phréatique en baisse de 0,5 à 1 m/an dans certaines régions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43 % de la population rurale n'a pas accès à l'eau potable (JMP, 2023)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8640" y="1371600"/>
            <a:ext cx="3400000" cy="48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5800" y="1508760"/>
            <a:ext cx="312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Technologies émergentes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5800" y="1920240"/>
            <a:ext cx="312568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Capteurs IoT pour le suivi des niveaux d'eau (piézomètres connectés)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IA / Machine Learning pour la prédiction hydrogéologique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Télédétection satellitaire (GRACE, Sentinel)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• Systèmes d'alerte précoce sécheresse (FEWS NET)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00000"/>
            <a:ext cx="11000000" cy="3500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000" y="6420000"/>
            <a:ext cx="10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Calibri"/>
              </a:rPr>
              <a:t>💡 Aucune solution intégrée IA + IoT n'existe pour le suivi prédictif des eaux souterraines à l'échelle communautaire au Sahel.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Calibri"/>
              </a:rPr>
              <a:t>01  REVUE DE LITTÉRATURE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État de l'Art : Gestion de l'Eau et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00000"/>
            <a:ext cx="1600000" cy="50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5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2005-2010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0000" y="145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Calibri"/>
              </a:rPr>
              <a:t>Premiers piézomètres manuels et bases de données hydrogéologiques nationales
(Projet AMMA-CATCH, IRD)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000" y="1900000"/>
            <a:ext cx="4000" cy="60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00000"/>
            <a:ext cx="1600000" cy="50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5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2010-2015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000" y="255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Calibri"/>
              </a:rPr>
              <a:t>Développement de capteurs IoT pour le suivi environnemental ; télédétection
satellitaire (GRACE) pour le suivi des réserves d'eau souterraine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0000" y="3000000"/>
            <a:ext cx="4000" cy="60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00000"/>
            <a:ext cx="1600000" cy="50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5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2015-2020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0000" y="365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Calibri"/>
              </a:rPr>
              <a:t>Projets pilotes IA + hydrologie : modèles LSTM pour la prédiction des niveaux
piézométriques (études en Inde, Chine) — pas encore au Sahel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40000" y="4100000"/>
            <a:ext cx="4000" cy="60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700000"/>
            <a:ext cx="1600000" cy="50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0000"/>
            <a:ext cx="1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2020-2025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0000" y="475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Calibri"/>
              </a:rPr>
              <a:t>Plateformes IoT d'alerte communautaire (ex : mWater, Charity Water Sensor)
mais sans composante prédictive IA intégrée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00000"/>
            <a:ext cx="11000000" cy="6000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59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Calibri"/>
              </a:rPr>
              <a:t>💡 Il n'existe pas encore de solution combinant IA prédictive + capteurs IoT + alerte communautaire pour la gestion des eaux souterraines en Afrique de l'Ouest.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Calibri"/>
              </a:rPr>
              <a:t>Sources : UNESCO World Water Report 2024, OMS/UNICEF JMP 2023, Banque Mondiale, IRD AMMA-CATCH, NASA GRACE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Calibri"/>
              </a:rPr>
              <a:t>02  LA SOLUTION IDENTIFIÉE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AquaIA — Surveillance Intelligente des Eaux Souterraines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00000"/>
            <a:ext cx="6500000" cy="35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40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Calibri"/>
              </a:rPr>
              <a:t>Description de la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800000"/>
            <a:ext cx="62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▸ AquaIA est un système intégré combinant des capteurs IoT piézométriques et un modèle d'IA prédictif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▸ Des capteurs connectés (LoRaWAN) mesurent en temps réel le niveau, la température et la qualité des eaux souterraines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▸ Un algorithme de Machine Learning (LSTM) prédit l'évolution des nappes à 3-6 mois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▸ Une plateforme web/mobile envoie des alertes aux communautés et aux gestionnaires de forages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▸ Le système fonctionne en mode hors-ligne avec synchronisation périodique (adapté au contexte rural)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00000"/>
            <a:ext cx="2700000" cy="14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00000"/>
            <a:ext cx="2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BD6"/>
                </a:solidFill>
                <a:latin typeface="Calibri"/>
              </a:rPr>
              <a:t>~$50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00000"/>
            <a:ext cx="2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4F8"/>
                </a:solidFill>
                <a:latin typeface="Calibri"/>
              </a:rPr>
              <a:t>coût par capteur
IoT installé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8640" y="5000000"/>
            <a:ext cx="2700000" cy="14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8640" y="5100000"/>
            <a:ext cx="2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BD6"/>
                </a:solidFill>
                <a:latin typeface="Calibri"/>
              </a:rPr>
              <a:t>3-6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640" y="5700000"/>
            <a:ext cx="2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4F8"/>
                </a:solidFill>
                <a:latin typeface="Calibri"/>
              </a:rPr>
              <a:t>horizon de
prédiction 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8640" y="5000000"/>
            <a:ext cx="2700000" cy="14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8640" y="5100000"/>
            <a:ext cx="2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BD6"/>
                </a:solidFill>
                <a:latin typeface="Calibri"/>
              </a:rPr>
              <a:t>85%+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8640" y="5700000"/>
            <a:ext cx="2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4F8"/>
                </a:solidFill>
                <a:latin typeface="Calibri"/>
              </a:rPr>
              <a:t>précision visée
du modèle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8640" y="5000000"/>
            <a:ext cx="2700000" cy="14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640" y="5100000"/>
            <a:ext cx="2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BD6"/>
                </a:solidFill>
                <a:latin typeface="Calibri"/>
              </a:rPr>
              <a:t>SMS/App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640" y="5700000"/>
            <a:ext cx="2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4F8"/>
                </a:solidFill>
                <a:latin typeface="Calibri"/>
              </a:rPr>
              <a:t>alertes aux
communautés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0000" y="1300000"/>
            <a:ext cx="4500000" cy="35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0000" y="1400000"/>
            <a:ext cx="4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C6DA"/>
                </a:solidFill>
                <a:latin typeface="Calibri"/>
              </a:rPr>
              <a:t>Architecture du système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0000" y="1850000"/>
            <a:ext cx="4200000" cy="550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0000" y="188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BD6"/>
                </a:solidFill>
                <a:latin typeface="Calibri"/>
              </a:rPr>
              <a:t>🔧 Couche Capteurs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0000" y="212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  <a:latin typeface="Calibri"/>
              </a:rPr>
              <a:t>Piézomètres IoT + LoRaWAN
Mesure niveau, T°, conductivité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0000" y="2500000"/>
            <a:ext cx="4200000" cy="550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0000" y="253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BD6"/>
                </a:solidFill>
                <a:latin typeface="Calibri"/>
              </a:rPr>
              <a:t>📡 Couche 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0000" y="277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  <a:latin typeface="Calibri"/>
              </a:rPr>
              <a:t>Passerelle LoRa → Gateway
SMS / GPRS / Wi-Fi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0000" y="3150000"/>
            <a:ext cx="4200000" cy="550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0000" y="318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BD6"/>
                </a:solidFill>
                <a:latin typeface="Calibri"/>
              </a:rPr>
              <a:t>🧠 Couche 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0000" y="342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  <a:latin typeface="Calibri"/>
              </a:rPr>
              <a:t>Modèle LSTM / Random Forest
Prédiction niveaux + alertes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0000" y="3800000"/>
            <a:ext cx="4200000" cy="550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0000" y="383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BD6"/>
                </a:solidFill>
                <a:latin typeface="Calibri"/>
              </a:rPr>
              <a:t>📱 Couche 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0000" y="407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  <a:latin typeface="Calibri"/>
              </a:rPr>
              <a:t>App mobile + Dashboard web
Alertes SMS communautaires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Calibri"/>
              </a:rPr>
              <a:t>Secteur : Eau &amp; Environnement   |   Technologie : IA + IoT + LoRaWAN   |   Contexte : Sahel / Afrique de l'Ouest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Calibri"/>
              </a:rPr>
              <a:t>03  ANALYSE DE L'INNOVATION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 Quoi AquaIA Est-elle une Innovation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00000"/>
            <a:ext cx="3500000" cy="52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00000"/>
            <a:ext cx="3500000" cy="6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50000"/>
            <a:ext cx="3225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D6"/>
                </a:solidFill>
                <a:latin typeface="Calibri"/>
              </a:rPr>
              <a:t>NOUVEAUTÉ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50000"/>
            <a:ext cx="322568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Combinaison inédite : piézomètres IoT + IA prédictive + alerte communautaire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Modèle LSTM adapté au contexte hydrogéologique sahélien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Fonctionnement hors-ligne avec synchronisation — adapté aux zones rurales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Première solution intégrée de ce type pour le Sahel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8640" y="1300000"/>
            <a:ext cx="3500000" cy="52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8640" y="1300000"/>
            <a:ext cx="3500000" cy="6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5800" y="1450000"/>
            <a:ext cx="3225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  <a:latin typeface="Calibri"/>
              </a:rPr>
              <a:t>USAGE RÉEL VISÉ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800" y="1950000"/>
            <a:ext cx="322568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Communautés rurales (~500 villages cibles au Burkina Faso)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Gestionnaires de forages et comités de gestion de l'eau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Services techniques de l'État (DGRE, ONEA)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ONG travaillant dans le secteur WASH (eau, assainissement, hygiène)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8640" y="1300000"/>
            <a:ext cx="3500000" cy="52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8640" y="1300000"/>
            <a:ext cx="3500000" cy="60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5800" y="1450000"/>
            <a:ext cx="3225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VALEUR CRÉÉE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5800" y="1950000"/>
            <a:ext cx="322568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Réduction de 40 % des pannes de forages par maintenance préventive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Anticipation des pénuries d'eau 3 à 6 mois à l'avance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Économies de 30 % sur les coûts de gestion des points d'eau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✓ Contribution directe à l'ODD 6 (eau propre) et ODD 13 (action climatique)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Calibri"/>
              </a:rPr>
              <a:t>04  ANALYSE FORCES ET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Forces et Limites d'AquaIA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00000"/>
            <a:ext cx="5400000" cy="26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00000"/>
            <a:ext cx="5400000" cy="6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1420000"/>
            <a:ext cx="5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Calibri"/>
              </a:rPr>
              <a:t>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1850000"/>
            <a:ext cx="51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✔ Coût faible des capteurs IoT (~50 $/unité) vs stations hydro classiques (&gt;5000 $)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✔ Modèle IA adaptable à différents contextes hydrogéologiques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✔ Communication LoRaWAN longue portée (15+ km) idéale pour zones rurales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✔ Impact social direct : anticipation des crises hydriques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✔ Scalable : déploiement progressif village par village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0000" y="1300000"/>
            <a:ext cx="5400000" cy="26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0000" y="1300000"/>
            <a:ext cx="5400000" cy="60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1420000"/>
            <a:ext cx="5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53935"/>
                </a:solidFill>
                <a:latin typeface="Calibri"/>
              </a:rPr>
              <a:t>LIMITES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1850000"/>
            <a:ext cx="51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✖ Nécessite des données historiques piézométriques pour entraîner le modèle IA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✖ Maintenance des capteurs en milieu rural (poussière, chaleur extrême)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✖ Dépendance au réseau mobile pour la transmission des données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✖ Adoption par les communautés : formation et sensibilisation nécessaires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0F4F8"/>
                </a:solidFill>
                <a:latin typeface="Calibri"/>
              </a:rPr>
              <a:t>✖ Financement initial important pour le déploiement à grande échelle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00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Matrice Effort-Bénéfice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50000"/>
            <a:ext cx="11000000" cy="21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640" y="458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AF50"/>
                </a:solidFill>
                <a:latin typeface="Calibri"/>
              </a:rPr>
              <a:t>BÉNÉFICE ÉLEVÉ / EFFORT FAIBLE 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8640" y="458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518"/>
                </a:solidFill>
                <a:latin typeface="Calibri"/>
              </a:rPr>
              <a:t>BÉNÉFICE ÉLEVÉ / EFFORT ÉLEVÉ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40" y="4830000"/>
            <a:ext cx="5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Alertes SMS communautaires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Dashboard web pour les gestionnaires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Intégration données satellite existantes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8640" y="4830000"/>
            <a:ext cx="5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Modèle LSTM prédictif à 6 mois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Déploiement national (1000+ capteurs)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Mode hors-ligne complet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640" y="5600000"/>
            <a:ext cx="10800000" cy="3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640" y="565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  <a:latin typeface="Calibri"/>
              </a:rPr>
              <a:t>BÉNÉFICE FAIBLE / EFFORT FAIBLE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8640" y="565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3935"/>
                </a:solidFill>
                <a:latin typeface="Calibri"/>
              </a:rPr>
              <a:t>BÉNÉFICE FAIBLE / EFFORT ÉLEVÉ  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40" y="5900000"/>
            <a:ext cx="5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Rapports PDF automatisés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Interface multilingue (Mooré, Dioula)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8640" y="5900000"/>
            <a:ext cx="5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Capteurs de qualité chimique complète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0F4F8"/>
                </a:solidFill>
                <a:latin typeface="Calibri"/>
              </a:rPr>
              <a:t>• Modèle 3D de la nappe en temps réel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48640" y="4560000"/>
            <a:ext cx="3000" cy="208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Calibri"/>
              </a:rPr>
              <a:t>05  AMÉLIORATIONS &amp;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Propositions d'Amélioration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00000"/>
            <a:ext cx="11000000" cy="22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00000"/>
            <a:ext cx="60000" cy="2200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000" y="14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BD6"/>
                </a:solidFill>
                <a:latin typeface="Calibri"/>
              </a:rPr>
              <a:t>AMÉLIORATION 1 — Intégration de données satellitaires et IA hybride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185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Combiner les données des capteurs IoT terrain avec les données satellite (GRACE-FO, Sentinel-2) pour créer un modèle hybride plus robuste.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L'IA fusionnerait les données multi-sources (capteurs locaux + télédétection + données météo) pour améliorer la précision des prédictions de 85 % à 92 %.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Cela permettrait aussi de couvrir des zones sans capteurs en utilisant l'interpolation spatiale assistée par satellite.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00000"/>
            <a:ext cx="11000000" cy="22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700000"/>
            <a:ext cx="60000" cy="220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0000" y="38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AF50"/>
                </a:solidFill>
                <a:latin typeface="Calibri"/>
              </a:rPr>
              <a:t>AMÉLIORATION 2 — Plateforme communautaire participative (Crowdsourcing)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425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Permettre aux communautés locales de contribuer des données via une application mobile simple (niveau d'eau des puits, état des forages, observations terrain).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Ces données participatives enrichiraient le modèle IA et augmenteraient la couverture géographique sans coût supplémentaire de capteurs.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0F4F8"/>
                </a:solidFill>
                <a:latin typeface="Calibri"/>
              </a:rPr>
              <a:t>Un système de gamification (points, classements) encouragerait la participation active et renforcerait l'appropriation communautaire du projet.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100000"/>
            <a:ext cx="11000000" cy="6000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0000" y="61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C6DA"/>
                </a:solidFill>
                <a:latin typeface="Calibri"/>
              </a:rPr>
              <a:t>🔄 Alternative : Partenariat avec les opérateurs mobiles (Orange, Moov) pour utiliser les antennes relais comme passerelles LoRaWAN, réduisant le coût d'infrastructure de 60 %.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C518"/>
                </a:solidFill>
                <a:latin typeface="Calibri"/>
              </a:rPr>
              <a:t>06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AquaIA : une Innovation Systémique pour le Sahel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00000"/>
            <a:ext cx="11000000" cy="300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000" y="1450000"/>
            <a:ext cx="105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F0F4F8"/>
                </a:solidFill>
                <a:latin typeface="Calibri"/>
              </a:rPr>
              <a:t>➤ AquaIA n'est pas un simple outil de mesure — c'est un système socio-technique complet qui combine technologie IoT, intelligence artificielle et engagement communautaire.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0F4F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0F4F8"/>
                </a:solidFill>
                <a:latin typeface="Calibri"/>
              </a:rPr>
              <a:t>➤ Elle répond à un vrai problème : 2,2 milliards de personnes sans accès à l'eau potable, dont 54 % de la population du Burkina Faso dépendant des eaux souterraines menacées.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0F4F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0F4F8"/>
                </a:solidFill>
                <a:latin typeface="Calibri"/>
              </a:rPr>
              <a:t>➤ La valeur créée est multidimensionnelle : anticipation des pénuries, réduction des coûts de gestion, renforcement de la résilience climatique et contribution directe aux ODD 6 et 13.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0F4F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0F4F8"/>
                </a:solidFill>
                <a:latin typeface="Calibri"/>
              </a:rPr>
              <a:t>➤ En combinant capteurs IoT à bas coût, modèles prédictifs IA et communication LoRaWAN adaptée aux zones rurales, AquaIA propose une solution faisable, scalable et à fort impact social.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0000" y="4600000"/>
            <a:ext cx="2800000" cy="6000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Créativité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000" y="47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9BD6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00000" y="4600000"/>
            <a:ext cx="2800000" cy="60000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000" y="47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9BD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0000" y="4600000"/>
            <a:ext cx="2800000" cy="600000"/>
          </a:xfrm>
          <a:prstGeom prst="round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INNOVATION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AquaIA — Secteur Eau &amp; Environnement  |  Institut 2iE  |  2025-2026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0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Sources : OMS/UNICEF JMP 2023, UNESCO World Water Report 2024, Banque Mondiale, DGRE Burkina Faso 2022, OCDE Perspectives Environnement 2050, NASA GRACE-FO, IRD AMMA-CATCH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