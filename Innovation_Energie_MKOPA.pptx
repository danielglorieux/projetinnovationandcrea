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57200" cy="6858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0" y="274320"/>
            <a:ext cx="2286000" cy="2286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8686800" cy="1371600"/>
          </a:xfrm>
          <a:prstGeom prst="rect">
            <a:avLst/>
          </a:prstGeom>
          <a:noFill/>
        </p:spPr>
        <p:txBody>
          <a:bodyPr wrap="square">
            <a:spAutoFit/>
          </a:bodyPr>
          <a:lstStyle/>
          <a:p>
            <a:pPr algn="l"/>
            <a:r>
              <a:rPr sz="3400" b="1" i="0">
                <a:solidFill>
                  <a:srgbClr val="FFFFFF"/>
                </a:solidFill>
                <a:latin typeface="Calibri"/>
              </a:rPr>
              <a:t>INNOVATION DANS LE SECTEUR DE L'ÉNERGIE</a:t>
            </a:r>
          </a:p>
        </p:txBody>
      </p:sp>
      <p:sp>
        <p:nvSpPr>
          <p:cNvPr id="6" name="TextBox 5"/>
          <p:cNvSpPr txBox="1"/>
          <p:nvPr/>
        </p:nvSpPr>
        <p:spPr>
          <a:xfrm>
            <a:off x="731520" y="2926080"/>
            <a:ext cx="8686800" cy="731520"/>
          </a:xfrm>
          <a:prstGeom prst="rect">
            <a:avLst/>
          </a:prstGeom>
          <a:noFill/>
        </p:spPr>
        <p:txBody>
          <a:bodyPr wrap="square">
            <a:spAutoFit/>
          </a:bodyPr>
          <a:lstStyle/>
          <a:p>
            <a:pPr algn="l"/>
            <a:r>
              <a:rPr sz="2000" b="0" i="0">
                <a:solidFill>
                  <a:srgbClr val="6BC67C"/>
                </a:solidFill>
                <a:latin typeface="Calibri"/>
              </a:rPr>
              <a:t>Le Pay-As-You-Go Solar : M-KOPA et l'accès à l'énergie propre</a:t>
            </a:r>
          </a:p>
        </p:txBody>
      </p:sp>
      <p:sp>
        <p:nvSpPr>
          <p:cNvPr id="7" name="Rectangle 6"/>
          <p:cNvSpPr/>
          <p:nvPr/>
        </p:nvSpPr>
        <p:spPr>
          <a:xfrm>
            <a:off x="731520" y="3749039"/>
            <a:ext cx="7315200" cy="36576"/>
          </a:xfrm>
          <a:prstGeom prst="rect">
            <a:avLst/>
          </a:prstGeom>
          <a:solidFill>
            <a:srgbClr val="6BC6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931920"/>
            <a:ext cx="8229600" cy="457200"/>
          </a:xfrm>
          <a:prstGeom prst="rect">
            <a:avLst/>
          </a:prstGeom>
          <a:noFill/>
        </p:spPr>
        <p:txBody>
          <a:bodyPr wrap="square">
            <a:spAutoFit/>
          </a:bodyPr>
          <a:lstStyle/>
          <a:p>
            <a:pPr algn="l"/>
            <a:r>
              <a:rPr sz="1400" b="0" i="0">
                <a:solidFill>
                  <a:srgbClr val="F0F4F8"/>
                </a:solidFill>
                <a:latin typeface="Calibri"/>
              </a:rPr>
              <a:t>Cours : Innovation et Créativité – S8 IA &amp; Informatique</a:t>
            </a:r>
          </a:p>
        </p:txBody>
      </p:sp>
      <p:sp>
        <p:nvSpPr>
          <p:cNvPr id="9" name="TextBox 8"/>
          <p:cNvSpPr txBox="1"/>
          <p:nvPr/>
        </p:nvSpPr>
        <p:spPr>
          <a:xfrm>
            <a:off x="731520" y="4389120"/>
            <a:ext cx="8229600" cy="457200"/>
          </a:xfrm>
          <a:prstGeom prst="rect">
            <a:avLst/>
          </a:prstGeom>
          <a:noFill/>
        </p:spPr>
        <p:txBody>
          <a:bodyPr wrap="square">
            <a:spAutoFit/>
          </a:bodyPr>
          <a:lstStyle/>
          <a:p>
            <a:pPr algn="l"/>
            <a:r>
              <a:rPr sz="1400" b="0" i="0">
                <a:solidFill>
                  <a:srgbClr val="F0F4F8"/>
                </a:solidFill>
                <a:latin typeface="Calibri"/>
              </a:rPr>
              <a:t>Institut 2iE  |  2025-2026</a:t>
            </a:r>
          </a:p>
        </p:txBody>
      </p:sp>
      <p:sp>
        <p:nvSpPr>
          <p:cNvPr id="10" name="Rectangle 9"/>
          <p:cNvSpPr/>
          <p:nvPr/>
        </p:nvSpPr>
        <p:spPr>
          <a:xfrm>
            <a:off x="0" y="6217920"/>
            <a:ext cx="12188952" cy="6400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6263640"/>
            <a:ext cx="10972800" cy="457200"/>
          </a:xfrm>
          <a:prstGeom prst="rect">
            <a:avLst/>
          </a:prstGeom>
          <a:noFill/>
        </p:spPr>
        <p:txBody>
          <a:bodyPr wrap="square">
            <a:spAutoFit/>
          </a:bodyPr>
          <a:lstStyle/>
          <a:p>
            <a:pPr algn="ctr"/>
            <a:r>
              <a:rPr sz="1300" b="0" i="0">
                <a:solidFill>
                  <a:srgbClr val="FFFFFF"/>
                </a:solidFill>
                <a:latin typeface="Calibri"/>
              </a:rPr>
              <a:t>Exercice pratique – Analyse d'une innovation existante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74320" cy="6858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0"/>
            <a:ext cx="12188952" cy="109728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28600"/>
            <a:ext cx="10972800" cy="731520"/>
          </a:xfrm>
          <a:prstGeom prst="rect">
            <a:avLst/>
          </a:prstGeom>
          <a:noFill/>
        </p:spPr>
        <p:txBody>
          <a:bodyPr wrap="square">
            <a:spAutoFit/>
          </a:bodyPr>
          <a:lstStyle/>
          <a:p>
            <a:pPr algn="l"/>
            <a:r>
              <a:rPr sz="2600" b="1" i="0">
                <a:solidFill>
                  <a:srgbClr val="FFFFFF"/>
                </a:solidFill>
                <a:latin typeface="Calibri"/>
              </a:rPr>
              <a:t>PLAN DE LA PRÉSENTATION</a:t>
            </a:r>
          </a:p>
        </p:txBody>
      </p:sp>
      <p:sp>
        <p:nvSpPr>
          <p:cNvPr id="6" name="Rounded Rectangle 5"/>
          <p:cNvSpPr/>
          <p:nvPr/>
        </p:nvSpPr>
        <p:spPr>
          <a:xfrm>
            <a:off x="548640" y="1371600"/>
            <a:ext cx="640080" cy="50292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71600"/>
            <a:ext cx="640080" cy="502920"/>
          </a:xfrm>
          <a:prstGeom prst="rect">
            <a:avLst/>
          </a:prstGeom>
          <a:noFill/>
        </p:spPr>
        <p:txBody>
          <a:bodyPr wrap="square">
            <a:spAutoFit/>
          </a:bodyPr>
          <a:lstStyle/>
          <a:p>
            <a:pPr algn="ctr"/>
            <a:r>
              <a:rPr sz="1800" b="1" i="0">
                <a:solidFill>
                  <a:srgbClr val="FFFFFF"/>
                </a:solidFill>
                <a:latin typeface="Calibri"/>
              </a:rPr>
              <a:t>01</a:t>
            </a:r>
          </a:p>
        </p:txBody>
      </p:sp>
      <p:sp>
        <p:nvSpPr>
          <p:cNvPr id="8" name="TextBox 7"/>
          <p:cNvSpPr txBox="1"/>
          <p:nvPr/>
        </p:nvSpPr>
        <p:spPr>
          <a:xfrm>
            <a:off x="1371600" y="1417320"/>
            <a:ext cx="9601200" cy="502920"/>
          </a:xfrm>
          <a:prstGeom prst="rect">
            <a:avLst/>
          </a:prstGeom>
          <a:noFill/>
        </p:spPr>
        <p:txBody>
          <a:bodyPr wrap="square">
            <a:spAutoFit/>
          </a:bodyPr>
          <a:lstStyle/>
          <a:p>
            <a:pPr algn="l"/>
            <a:r>
              <a:rPr sz="1700" b="0" i="0">
                <a:solidFill>
                  <a:srgbClr val="333333"/>
                </a:solidFill>
                <a:latin typeface="Calibri"/>
              </a:rPr>
              <a:t>Revue de littérature – Le secteur de l'énergie</a:t>
            </a:r>
          </a:p>
        </p:txBody>
      </p:sp>
      <p:sp>
        <p:nvSpPr>
          <p:cNvPr id="9" name="Rounded Rectangle 8"/>
          <p:cNvSpPr/>
          <p:nvPr/>
        </p:nvSpPr>
        <p:spPr>
          <a:xfrm>
            <a:off x="548640" y="2011680"/>
            <a:ext cx="640080" cy="502920"/>
          </a:xfrm>
          <a:prstGeom prst="round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11680"/>
            <a:ext cx="640080" cy="502920"/>
          </a:xfrm>
          <a:prstGeom prst="rect">
            <a:avLst/>
          </a:prstGeom>
          <a:noFill/>
        </p:spPr>
        <p:txBody>
          <a:bodyPr wrap="square">
            <a:spAutoFit/>
          </a:bodyPr>
          <a:lstStyle/>
          <a:p>
            <a:pPr algn="ctr"/>
            <a:r>
              <a:rPr sz="1800" b="1" i="0">
                <a:solidFill>
                  <a:srgbClr val="FFFFFF"/>
                </a:solidFill>
                <a:latin typeface="Calibri"/>
              </a:rPr>
              <a:t>02</a:t>
            </a:r>
          </a:p>
        </p:txBody>
      </p:sp>
      <p:sp>
        <p:nvSpPr>
          <p:cNvPr id="11" name="TextBox 10"/>
          <p:cNvSpPr txBox="1"/>
          <p:nvPr/>
        </p:nvSpPr>
        <p:spPr>
          <a:xfrm>
            <a:off x="1371600" y="2057400"/>
            <a:ext cx="9601200" cy="502920"/>
          </a:xfrm>
          <a:prstGeom prst="rect">
            <a:avLst/>
          </a:prstGeom>
          <a:noFill/>
        </p:spPr>
        <p:txBody>
          <a:bodyPr wrap="square">
            <a:spAutoFit/>
          </a:bodyPr>
          <a:lstStyle/>
          <a:p>
            <a:pPr algn="l"/>
            <a:r>
              <a:rPr sz="1700" b="0" i="0">
                <a:solidFill>
                  <a:srgbClr val="333333"/>
                </a:solidFill>
                <a:latin typeface="Calibri"/>
              </a:rPr>
              <a:t>Présentation de la solution : M-KOPA Solar (PAYGo)</a:t>
            </a:r>
          </a:p>
        </p:txBody>
      </p:sp>
      <p:sp>
        <p:nvSpPr>
          <p:cNvPr id="12" name="Rounded Rectangle 11"/>
          <p:cNvSpPr/>
          <p:nvPr/>
        </p:nvSpPr>
        <p:spPr>
          <a:xfrm>
            <a:off x="548640" y="2651760"/>
            <a:ext cx="640080" cy="50292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51760"/>
            <a:ext cx="640080" cy="502920"/>
          </a:xfrm>
          <a:prstGeom prst="rect">
            <a:avLst/>
          </a:prstGeom>
          <a:noFill/>
        </p:spPr>
        <p:txBody>
          <a:bodyPr wrap="square">
            <a:spAutoFit/>
          </a:bodyPr>
          <a:lstStyle/>
          <a:p>
            <a:pPr algn="ctr"/>
            <a:r>
              <a:rPr sz="1800" b="1" i="0">
                <a:solidFill>
                  <a:srgbClr val="FFFFFF"/>
                </a:solidFill>
                <a:latin typeface="Calibri"/>
              </a:rPr>
              <a:t>03</a:t>
            </a:r>
          </a:p>
        </p:txBody>
      </p:sp>
      <p:sp>
        <p:nvSpPr>
          <p:cNvPr id="14" name="TextBox 13"/>
          <p:cNvSpPr txBox="1"/>
          <p:nvPr/>
        </p:nvSpPr>
        <p:spPr>
          <a:xfrm>
            <a:off x="1371600" y="2697480"/>
            <a:ext cx="9601200" cy="502920"/>
          </a:xfrm>
          <a:prstGeom prst="rect">
            <a:avLst/>
          </a:prstGeom>
          <a:noFill/>
        </p:spPr>
        <p:txBody>
          <a:bodyPr wrap="square">
            <a:spAutoFit/>
          </a:bodyPr>
          <a:lstStyle/>
          <a:p>
            <a:pPr algn="l"/>
            <a:r>
              <a:rPr sz="1700" b="0" i="0">
                <a:solidFill>
                  <a:srgbClr val="333333"/>
                </a:solidFill>
                <a:latin typeface="Calibri"/>
              </a:rPr>
              <a:t>En quoi est-ce une innovation ?</a:t>
            </a:r>
          </a:p>
        </p:txBody>
      </p:sp>
      <p:sp>
        <p:nvSpPr>
          <p:cNvPr id="15" name="Rounded Rectangle 14"/>
          <p:cNvSpPr/>
          <p:nvPr/>
        </p:nvSpPr>
        <p:spPr>
          <a:xfrm>
            <a:off x="548640" y="3291840"/>
            <a:ext cx="640080" cy="502920"/>
          </a:xfrm>
          <a:prstGeom prst="round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291840"/>
            <a:ext cx="640080" cy="502920"/>
          </a:xfrm>
          <a:prstGeom prst="rect">
            <a:avLst/>
          </a:prstGeom>
          <a:noFill/>
        </p:spPr>
        <p:txBody>
          <a:bodyPr wrap="square">
            <a:spAutoFit/>
          </a:bodyPr>
          <a:lstStyle/>
          <a:p>
            <a:pPr algn="ctr"/>
            <a:r>
              <a:rPr sz="1800" b="1" i="0">
                <a:solidFill>
                  <a:srgbClr val="FFFFFF"/>
                </a:solidFill>
                <a:latin typeface="Calibri"/>
              </a:rPr>
              <a:t>04</a:t>
            </a:r>
          </a:p>
        </p:txBody>
      </p:sp>
      <p:sp>
        <p:nvSpPr>
          <p:cNvPr id="17" name="TextBox 16"/>
          <p:cNvSpPr txBox="1"/>
          <p:nvPr/>
        </p:nvSpPr>
        <p:spPr>
          <a:xfrm>
            <a:off x="1371600" y="3337560"/>
            <a:ext cx="9601200" cy="502920"/>
          </a:xfrm>
          <a:prstGeom prst="rect">
            <a:avLst/>
          </a:prstGeom>
          <a:noFill/>
        </p:spPr>
        <p:txBody>
          <a:bodyPr wrap="square">
            <a:spAutoFit/>
          </a:bodyPr>
          <a:lstStyle/>
          <a:p>
            <a:pPr algn="l"/>
            <a:r>
              <a:rPr sz="1700" b="0" i="0">
                <a:solidFill>
                  <a:srgbClr val="333333"/>
                </a:solidFill>
                <a:latin typeface="Calibri"/>
              </a:rPr>
              <a:t>Forces et limites de la solution</a:t>
            </a:r>
          </a:p>
        </p:txBody>
      </p:sp>
      <p:sp>
        <p:nvSpPr>
          <p:cNvPr id="18" name="Rounded Rectangle 17"/>
          <p:cNvSpPr/>
          <p:nvPr/>
        </p:nvSpPr>
        <p:spPr>
          <a:xfrm>
            <a:off x="548640" y="3931920"/>
            <a:ext cx="640080" cy="50292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931920"/>
            <a:ext cx="640080" cy="502920"/>
          </a:xfrm>
          <a:prstGeom prst="rect">
            <a:avLst/>
          </a:prstGeom>
          <a:noFill/>
        </p:spPr>
        <p:txBody>
          <a:bodyPr wrap="square">
            <a:spAutoFit/>
          </a:bodyPr>
          <a:lstStyle/>
          <a:p>
            <a:pPr algn="ctr"/>
            <a:r>
              <a:rPr sz="1800" b="1" i="0">
                <a:solidFill>
                  <a:srgbClr val="FFFFFF"/>
                </a:solidFill>
                <a:latin typeface="Calibri"/>
              </a:rPr>
              <a:t>05</a:t>
            </a:r>
          </a:p>
        </p:txBody>
      </p:sp>
      <p:sp>
        <p:nvSpPr>
          <p:cNvPr id="20" name="TextBox 19"/>
          <p:cNvSpPr txBox="1"/>
          <p:nvPr/>
        </p:nvSpPr>
        <p:spPr>
          <a:xfrm>
            <a:off x="1371600" y="3977640"/>
            <a:ext cx="9601200" cy="502920"/>
          </a:xfrm>
          <a:prstGeom prst="rect">
            <a:avLst/>
          </a:prstGeom>
          <a:noFill/>
        </p:spPr>
        <p:txBody>
          <a:bodyPr wrap="square">
            <a:spAutoFit/>
          </a:bodyPr>
          <a:lstStyle/>
          <a:p>
            <a:pPr algn="l"/>
            <a:r>
              <a:rPr sz="1700" b="0" i="0">
                <a:solidFill>
                  <a:srgbClr val="333333"/>
                </a:solidFill>
                <a:latin typeface="Calibri"/>
              </a:rPr>
              <a:t>Améliorations et alternatives proposées</a:t>
            </a:r>
          </a:p>
        </p:txBody>
      </p:sp>
      <p:sp>
        <p:nvSpPr>
          <p:cNvPr id="21" name="Rounded Rectangle 20"/>
          <p:cNvSpPr/>
          <p:nvPr/>
        </p:nvSpPr>
        <p:spPr>
          <a:xfrm>
            <a:off x="548640" y="4572000"/>
            <a:ext cx="640080" cy="502920"/>
          </a:xfrm>
          <a:prstGeom prst="round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572000"/>
            <a:ext cx="640080" cy="502920"/>
          </a:xfrm>
          <a:prstGeom prst="rect">
            <a:avLst/>
          </a:prstGeom>
          <a:noFill/>
        </p:spPr>
        <p:txBody>
          <a:bodyPr wrap="square">
            <a:spAutoFit/>
          </a:bodyPr>
          <a:lstStyle/>
          <a:p>
            <a:pPr algn="ctr"/>
            <a:r>
              <a:rPr sz="1800" b="1" i="0">
                <a:solidFill>
                  <a:srgbClr val="FFFFFF"/>
                </a:solidFill>
                <a:latin typeface="Calibri"/>
              </a:rPr>
              <a:t>06</a:t>
            </a:r>
          </a:p>
        </p:txBody>
      </p:sp>
      <p:sp>
        <p:nvSpPr>
          <p:cNvPr id="23" name="TextBox 22"/>
          <p:cNvSpPr txBox="1"/>
          <p:nvPr/>
        </p:nvSpPr>
        <p:spPr>
          <a:xfrm>
            <a:off x="1371600" y="4617720"/>
            <a:ext cx="9601200" cy="502920"/>
          </a:xfrm>
          <a:prstGeom prst="rect">
            <a:avLst/>
          </a:prstGeom>
          <a:noFill/>
        </p:spPr>
        <p:txBody>
          <a:bodyPr wrap="square">
            <a:spAutoFit/>
          </a:bodyPr>
          <a:lstStyle/>
          <a:p>
            <a:pPr algn="l"/>
            <a:r>
              <a:rPr sz="1700" b="0" i="0">
                <a:solidFill>
                  <a:srgbClr val="333333"/>
                </a:solidFill>
                <a:latin typeface="Calibri"/>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F5C518"/>
                </a:solidFill>
                <a:latin typeface="Calibri"/>
              </a:rPr>
              <a:t>01  REVUE DE LITTÉRATURE</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Contexte Énergétique Mondial</a:t>
            </a:r>
          </a:p>
        </p:txBody>
      </p:sp>
      <p:sp>
        <p:nvSpPr>
          <p:cNvPr id="7" name="Rounded Rectangle 6"/>
          <p:cNvSpPr/>
          <p:nvPr/>
        </p:nvSpPr>
        <p:spPr>
          <a:xfrm>
            <a:off x="457200" y="1371600"/>
            <a:ext cx="3474720" cy="594360"/>
          </a:xfrm>
          <a:prstGeom prst="round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89888"/>
            <a:ext cx="3474720" cy="566928"/>
          </a:xfrm>
          <a:prstGeom prst="rect">
            <a:avLst/>
          </a:prstGeom>
          <a:noFill/>
        </p:spPr>
        <p:txBody>
          <a:bodyPr wrap="square">
            <a:spAutoFit/>
          </a:bodyPr>
          <a:lstStyle/>
          <a:p>
            <a:pPr algn="ctr"/>
            <a:r>
              <a:rPr sz="1500" b="1" i="0">
                <a:solidFill>
                  <a:srgbClr val="FFFFFF"/>
                </a:solidFill>
                <a:latin typeface="Calibri"/>
              </a:rPr>
              <a:t>🌍 Enjeux globaux</a:t>
            </a:r>
          </a:p>
        </p:txBody>
      </p:sp>
      <p:sp>
        <p:nvSpPr>
          <p:cNvPr id="9" name="Rectangle 8"/>
          <p:cNvSpPr/>
          <p:nvPr/>
        </p:nvSpPr>
        <p:spPr>
          <a:xfrm>
            <a:off x="457200" y="2011680"/>
            <a:ext cx="3474720" cy="4114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03120"/>
            <a:ext cx="3291840" cy="3840480"/>
          </a:xfrm>
          <a:prstGeom prst="rect">
            <a:avLst/>
          </a:prstGeom>
          <a:noFill/>
        </p:spPr>
        <p:txBody>
          <a:bodyPr wrap="square">
            <a:spAutoFit/>
          </a:bodyPr>
          <a:lstStyle/>
          <a:p>
            <a:pPr>
              <a:spcBef>
                <a:spcPts val="400"/>
              </a:spcBef>
            </a:pPr>
            <a:r>
              <a:rPr sz="1400">
                <a:solidFill>
                  <a:srgbClr val="333333"/>
                </a:solidFill>
                <a:latin typeface="Calibri"/>
              </a:rPr>
              <a:t>• Dépendance aux énergies fossiles</a:t>
            </a:r>
          </a:p>
          <a:p>
            <a:pPr>
              <a:spcBef>
                <a:spcPts val="400"/>
              </a:spcBef>
            </a:pPr>
            <a:r>
              <a:rPr sz="1400">
                <a:solidFill>
                  <a:srgbClr val="333333"/>
                </a:solidFill>
                <a:latin typeface="Calibri"/>
              </a:rPr>
              <a:t>• Émissions GES : +50 % depuis 1990</a:t>
            </a:r>
          </a:p>
          <a:p>
            <a:pPr>
              <a:spcBef>
                <a:spcPts val="400"/>
              </a:spcBef>
            </a:pPr>
            <a:r>
              <a:rPr sz="1400">
                <a:solidFill>
                  <a:srgbClr val="333333"/>
                </a:solidFill>
                <a:latin typeface="Calibri"/>
              </a:rPr>
              <a:t>• Crise climatique : COP21, Accord de Paris</a:t>
            </a:r>
          </a:p>
          <a:p>
            <a:pPr>
              <a:spcBef>
                <a:spcPts val="400"/>
              </a:spcBef>
            </a:pPr>
            <a:r>
              <a:rPr sz="1400">
                <a:solidFill>
                  <a:srgbClr val="333333"/>
                </a:solidFill>
                <a:latin typeface="Calibri"/>
              </a:rPr>
              <a:t>• Hausse des prix de l'énergie</a:t>
            </a:r>
          </a:p>
        </p:txBody>
      </p:sp>
      <p:sp>
        <p:nvSpPr>
          <p:cNvPr id="11" name="Rounded Rectangle 10"/>
          <p:cNvSpPr/>
          <p:nvPr/>
        </p:nvSpPr>
        <p:spPr>
          <a:xfrm>
            <a:off x="4114800" y="1371600"/>
            <a:ext cx="3474720" cy="59436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0" y="1389888"/>
            <a:ext cx="3474720" cy="566928"/>
          </a:xfrm>
          <a:prstGeom prst="rect">
            <a:avLst/>
          </a:prstGeom>
          <a:noFill/>
        </p:spPr>
        <p:txBody>
          <a:bodyPr wrap="square">
            <a:spAutoFit/>
          </a:bodyPr>
          <a:lstStyle/>
          <a:p>
            <a:pPr algn="ctr"/>
            <a:r>
              <a:rPr sz="1500" b="1" i="0">
                <a:solidFill>
                  <a:srgbClr val="FFFFFF"/>
                </a:solidFill>
                <a:latin typeface="Calibri"/>
              </a:rPr>
              <a:t>⚡ Accès à l'énergie</a:t>
            </a:r>
          </a:p>
        </p:txBody>
      </p:sp>
      <p:sp>
        <p:nvSpPr>
          <p:cNvPr id="13" name="Rectangle 12"/>
          <p:cNvSpPr/>
          <p:nvPr/>
        </p:nvSpPr>
        <p:spPr>
          <a:xfrm>
            <a:off x="4114800" y="2011680"/>
            <a:ext cx="3474720" cy="4114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6240" y="2103120"/>
            <a:ext cx="3291840" cy="3840480"/>
          </a:xfrm>
          <a:prstGeom prst="rect">
            <a:avLst/>
          </a:prstGeom>
          <a:noFill/>
        </p:spPr>
        <p:txBody>
          <a:bodyPr wrap="square">
            <a:spAutoFit/>
          </a:bodyPr>
          <a:lstStyle/>
          <a:p>
            <a:pPr>
              <a:spcBef>
                <a:spcPts val="400"/>
              </a:spcBef>
            </a:pPr>
            <a:r>
              <a:rPr sz="1400">
                <a:solidFill>
                  <a:srgbClr val="333333"/>
                </a:solidFill>
                <a:latin typeface="Calibri"/>
              </a:rPr>
              <a:t>• 760 millions de personnes sans électricité</a:t>
            </a:r>
          </a:p>
          <a:p>
            <a:pPr>
              <a:spcBef>
                <a:spcPts val="400"/>
              </a:spcBef>
            </a:pPr>
            <a:r>
              <a:rPr sz="1400">
                <a:solidFill>
                  <a:srgbClr val="333333"/>
                </a:solidFill>
                <a:latin typeface="Calibri"/>
              </a:rPr>
              <a:t>• 90 % en Afrique subsaharienne</a:t>
            </a:r>
          </a:p>
          <a:p>
            <a:pPr>
              <a:spcBef>
                <a:spcPts val="400"/>
              </a:spcBef>
            </a:pPr>
            <a:r>
              <a:rPr sz="1400">
                <a:solidFill>
                  <a:srgbClr val="333333"/>
                </a:solidFill>
                <a:latin typeface="Calibri"/>
              </a:rPr>
              <a:t>• Frein au développement économique</a:t>
            </a:r>
          </a:p>
          <a:p>
            <a:pPr>
              <a:spcBef>
                <a:spcPts val="400"/>
              </a:spcBef>
            </a:pPr>
            <a:r>
              <a:rPr sz="1400">
                <a:solidFill>
                  <a:srgbClr val="333333"/>
                </a:solidFill>
                <a:latin typeface="Calibri"/>
              </a:rPr>
              <a:t>• ODD 7 : énergie propre et accessible</a:t>
            </a:r>
          </a:p>
        </p:txBody>
      </p:sp>
      <p:sp>
        <p:nvSpPr>
          <p:cNvPr id="15" name="Rounded Rectangle 14"/>
          <p:cNvSpPr/>
          <p:nvPr/>
        </p:nvSpPr>
        <p:spPr>
          <a:xfrm>
            <a:off x="7772400" y="1371600"/>
            <a:ext cx="3474720" cy="594360"/>
          </a:xfrm>
          <a:prstGeom prst="round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389888"/>
            <a:ext cx="3474720" cy="566928"/>
          </a:xfrm>
          <a:prstGeom prst="rect">
            <a:avLst/>
          </a:prstGeom>
          <a:noFill/>
        </p:spPr>
        <p:txBody>
          <a:bodyPr wrap="square">
            <a:spAutoFit/>
          </a:bodyPr>
          <a:lstStyle/>
          <a:p>
            <a:pPr algn="ctr"/>
            <a:r>
              <a:rPr sz="1500" b="1" i="0">
                <a:solidFill>
                  <a:srgbClr val="FFFFFF"/>
                </a:solidFill>
                <a:latin typeface="Calibri"/>
              </a:rPr>
              <a:t>🔬 Innovations émergentes</a:t>
            </a:r>
          </a:p>
        </p:txBody>
      </p:sp>
      <p:sp>
        <p:nvSpPr>
          <p:cNvPr id="17" name="Rectangle 16"/>
          <p:cNvSpPr/>
          <p:nvPr/>
        </p:nvSpPr>
        <p:spPr>
          <a:xfrm>
            <a:off x="7772400" y="2011680"/>
            <a:ext cx="3474720" cy="41148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2103120"/>
            <a:ext cx="3291840" cy="3840480"/>
          </a:xfrm>
          <a:prstGeom prst="rect">
            <a:avLst/>
          </a:prstGeom>
          <a:noFill/>
        </p:spPr>
        <p:txBody>
          <a:bodyPr wrap="square">
            <a:spAutoFit/>
          </a:bodyPr>
          <a:lstStyle/>
          <a:p>
            <a:pPr>
              <a:spcBef>
                <a:spcPts val="400"/>
              </a:spcBef>
            </a:pPr>
            <a:r>
              <a:rPr sz="1400">
                <a:solidFill>
                  <a:srgbClr val="333333"/>
                </a:solidFill>
                <a:latin typeface="Calibri"/>
              </a:rPr>
              <a:t>• Énergies renouvelables (solaire, éolien)</a:t>
            </a:r>
          </a:p>
          <a:p>
            <a:pPr>
              <a:spcBef>
                <a:spcPts val="400"/>
              </a:spcBef>
            </a:pPr>
            <a:r>
              <a:rPr sz="1400">
                <a:solidFill>
                  <a:srgbClr val="333333"/>
                </a:solidFill>
                <a:latin typeface="Calibri"/>
              </a:rPr>
              <a:t>• Réseaux intelligents (Smart Grids)</a:t>
            </a:r>
          </a:p>
          <a:p>
            <a:pPr>
              <a:spcBef>
                <a:spcPts val="400"/>
              </a:spcBef>
            </a:pPr>
            <a:r>
              <a:rPr sz="1400">
                <a:solidFill>
                  <a:srgbClr val="333333"/>
                </a:solidFill>
                <a:latin typeface="Calibri"/>
              </a:rPr>
              <a:t>• Stockage par batteries (Li-ion, flow)</a:t>
            </a:r>
          </a:p>
          <a:p>
            <a:pPr>
              <a:spcBef>
                <a:spcPts val="400"/>
              </a:spcBef>
            </a:pPr>
            <a:r>
              <a:rPr sz="1400">
                <a:solidFill>
                  <a:srgbClr val="333333"/>
                </a:solidFill>
                <a:latin typeface="Calibri"/>
              </a:rPr>
              <a:t>• IoT &amp; IA pour l'optimisation énergétique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F5C518"/>
                </a:solidFill>
                <a:latin typeface="Calibri"/>
              </a:rPr>
              <a:t>01  REVUE DE LITTÉRATURE</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État de l'Art : Innovations Énergétiques</a:t>
            </a:r>
          </a:p>
        </p:txBody>
      </p:sp>
      <p:sp>
        <p:nvSpPr>
          <p:cNvPr id="7" name="Rounded Rectangle 6"/>
          <p:cNvSpPr/>
          <p:nvPr/>
        </p:nvSpPr>
        <p:spPr>
          <a:xfrm>
            <a:off x="548640" y="1371600"/>
            <a:ext cx="1371600" cy="6400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1371600" cy="640080"/>
          </a:xfrm>
          <a:prstGeom prst="rect">
            <a:avLst/>
          </a:prstGeom>
          <a:noFill/>
        </p:spPr>
        <p:txBody>
          <a:bodyPr wrap="square">
            <a:spAutoFit/>
          </a:bodyPr>
          <a:lstStyle/>
          <a:p>
            <a:pPr algn="ctr"/>
            <a:r>
              <a:rPr sz="1400" b="1" i="0">
                <a:solidFill>
                  <a:srgbClr val="FFFFFF"/>
                </a:solidFill>
                <a:latin typeface="Calibri"/>
              </a:rPr>
              <a:t>2000s</a:t>
            </a:r>
          </a:p>
        </p:txBody>
      </p:sp>
      <p:sp>
        <p:nvSpPr>
          <p:cNvPr id="9" name="Rectangle 8"/>
          <p:cNvSpPr/>
          <p:nvPr/>
        </p:nvSpPr>
        <p:spPr>
          <a:xfrm>
            <a:off x="1965960" y="1645920"/>
            <a:ext cx="365760" cy="7315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286000" y="1417320"/>
            <a:ext cx="9326880" cy="6400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77440" y="1444752"/>
            <a:ext cx="9144000" cy="594360"/>
          </a:xfrm>
          <a:prstGeom prst="rect">
            <a:avLst/>
          </a:prstGeom>
          <a:noFill/>
        </p:spPr>
        <p:txBody>
          <a:bodyPr wrap="square">
            <a:spAutoFit/>
          </a:bodyPr>
          <a:lstStyle/>
          <a:p>
            <a:pPr algn="l"/>
            <a:r>
              <a:rPr sz="1400" b="0" i="0">
                <a:solidFill>
                  <a:srgbClr val="333333"/>
                </a:solidFill>
                <a:latin typeface="Calibri"/>
              </a:rPr>
              <a:t>Développement des énergies renouvelables à grande échelle
(parcs éoliens offshore, fermes solaires PV)</a:t>
            </a:r>
          </a:p>
        </p:txBody>
      </p:sp>
      <p:sp>
        <p:nvSpPr>
          <p:cNvPr id="12" name="Rounded Rectangle 11"/>
          <p:cNvSpPr/>
          <p:nvPr/>
        </p:nvSpPr>
        <p:spPr>
          <a:xfrm>
            <a:off x="548640" y="2514600"/>
            <a:ext cx="1371600" cy="6400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514600"/>
            <a:ext cx="1371600" cy="640080"/>
          </a:xfrm>
          <a:prstGeom prst="rect">
            <a:avLst/>
          </a:prstGeom>
          <a:noFill/>
        </p:spPr>
        <p:txBody>
          <a:bodyPr wrap="square">
            <a:spAutoFit/>
          </a:bodyPr>
          <a:lstStyle/>
          <a:p>
            <a:pPr algn="ctr"/>
            <a:r>
              <a:rPr sz="1400" b="1" i="0">
                <a:solidFill>
                  <a:srgbClr val="FFFFFF"/>
                </a:solidFill>
                <a:latin typeface="Calibri"/>
              </a:rPr>
              <a:t>2010s</a:t>
            </a:r>
          </a:p>
        </p:txBody>
      </p:sp>
      <p:sp>
        <p:nvSpPr>
          <p:cNvPr id="14" name="Rectangle 13"/>
          <p:cNvSpPr/>
          <p:nvPr/>
        </p:nvSpPr>
        <p:spPr>
          <a:xfrm>
            <a:off x="1965960" y="2788920"/>
            <a:ext cx="365760" cy="7315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0" y="2560320"/>
            <a:ext cx="9326880" cy="6400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77440" y="2587752"/>
            <a:ext cx="9144000" cy="594360"/>
          </a:xfrm>
          <a:prstGeom prst="rect">
            <a:avLst/>
          </a:prstGeom>
          <a:noFill/>
        </p:spPr>
        <p:txBody>
          <a:bodyPr wrap="square">
            <a:spAutoFit/>
          </a:bodyPr>
          <a:lstStyle/>
          <a:p>
            <a:pPr algn="l"/>
            <a:r>
              <a:rPr sz="1400" b="0" i="0">
                <a:solidFill>
                  <a:srgbClr val="333333"/>
                </a:solidFill>
                <a:latin typeface="Calibri"/>
              </a:rPr>
              <a:t>Démocratisation du solaire résidentiel, chute des coûts (-89 %)
et apparition des modèles pay-as-you-go en Afrique</a:t>
            </a:r>
          </a:p>
        </p:txBody>
      </p:sp>
      <p:sp>
        <p:nvSpPr>
          <p:cNvPr id="17" name="Rounded Rectangle 16"/>
          <p:cNvSpPr/>
          <p:nvPr/>
        </p:nvSpPr>
        <p:spPr>
          <a:xfrm>
            <a:off x="548640" y="3657600"/>
            <a:ext cx="1371600" cy="6400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657600"/>
            <a:ext cx="1371600" cy="640080"/>
          </a:xfrm>
          <a:prstGeom prst="rect">
            <a:avLst/>
          </a:prstGeom>
          <a:noFill/>
        </p:spPr>
        <p:txBody>
          <a:bodyPr wrap="square">
            <a:spAutoFit/>
          </a:bodyPr>
          <a:lstStyle/>
          <a:p>
            <a:pPr algn="ctr"/>
            <a:r>
              <a:rPr sz="1400" b="1" i="0">
                <a:solidFill>
                  <a:srgbClr val="FFFFFF"/>
                </a:solidFill>
                <a:latin typeface="Calibri"/>
              </a:rPr>
              <a:t>2015-2020</a:t>
            </a:r>
          </a:p>
        </p:txBody>
      </p:sp>
      <p:sp>
        <p:nvSpPr>
          <p:cNvPr id="19" name="Rectangle 18"/>
          <p:cNvSpPr/>
          <p:nvPr/>
        </p:nvSpPr>
        <p:spPr>
          <a:xfrm>
            <a:off x="1965960" y="3931920"/>
            <a:ext cx="365760" cy="7315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86000" y="3703320"/>
            <a:ext cx="9326880" cy="6400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3730752"/>
            <a:ext cx="9144000" cy="594360"/>
          </a:xfrm>
          <a:prstGeom prst="rect">
            <a:avLst/>
          </a:prstGeom>
          <a:noFill/>
        </p:spPr>
        <p:txBody>
          <a:bodyPr wrap="square">
            <a:spAutoFit/>
          </a:bodyPr>
          <a:lstStyle/>
          <a:p>
            <a:pPr algn="l"/>
            <a:r>
              <a:rPr sz="1400" b="0" i="0">
                <a:solidFill>
                  <a:srgbClr val="333333"/>
                </a:solidFill>
                <a:latin typeface="Calibri"/>
              </a:rPr>
              <a:t>IA &amp; Big Data appliqués à la gestion des réseaux électriques
(prédiction de la demande, maintenance prédictive)</a:t>
            </a:r>
          </a:p>
        </p:txBody>
      </p:sp>
      <p:sp>
        <p:nvSpPr>
          <p:cNvPr id="22" name="Rounded Rectangle 21"/>
          <p:cNvSpPr/>
          <p:nvPr/>
        </p:nvSpPr>
        <p:spPr>
          <a:xfrm>
            <a:off x="548640" y="4800600"/>
            <a:ext cx="1371600" cy="6400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800600"/>
            <a:ext cx="1371600" cy="640080"/>
          </a:xfrm>
          <a:prstGeom prst="rect">
            <a:avLst/>
          </a:prstGeom>
          <a:noFill/>
        </p:spPr>
        <p:txBody>
          <a:bodyPr wrap="square">
            <a:spAutoFit/>
          </a:bodyPr>
          <a:lstStyle/>
          <a:p>
            <a:pPr algn="ctr"/>
            <a:r>
              <a:rPr sz="1400" b="1" i="0">
                <a:solidFill>
                  <a:srgbClr val="FFFFFF"/>
                </a:solidFill>
                <a:latin typeface="Calibri"/>
              </a:rPr>
              <a:t>2020+</a:t>
            </a:r>
          </a:p>
        </p:txBody>
      </p:sp>
      <p:sp>
        <p:nvSpPr>
          <p:cNvPr id="24" name="Rectangle 23"/>
          <p:cNvSpPr/>
          <p:nvPr/>
        </p:nvSpPr>
        <p:spPr>
          <a:xfrm>
            <a:off x="1965960" y="5074920"/>
            <a:ext cx="365760" cy="73152"/>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0" y="4846320"/>
            <a:ext cx="9326880" cy="6400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4873752"/>
            <a:ext cx="9144000" cy="594360"/>
          </a:xfrm>
          <a:prstGeom prst="rect">
            <a:avLst/>
          </a:prstGeom>
          <a:noFill/>
        </p:spPr>
        <p:txBody>
          <a:bodyPr wrap="square">
            <a:spAutoFit/>
          </a:bodyPr>
          <a:lstStyle/>
          <a:p>
            <a:pPr algn="l"/>
            <a:r>
              <a:rPr sz="1400" b="0" i="0">
                <a:solidFill>
                  <a:srgbClr val="333333"/>
                </a:solidFill>
                <a:latin typeface="Calibri"/>
              </a:rPr>
              <a:t>Véhicules électriques, Virtual Power Plants (VPP)
et marchés d'échange d'énergie pair-à-pair (P2P)</a:t>
            </a:r>
          </a:p>
        </p:txBody>
      </p:sp>
      <p:sp>
        <p:nvSpPr>
          <p:cNvPr id="27" name="Rounded Rectangle 26"/>
          <p:cNvSpPr/>
          <p:nvPr/>
        </p:nvSpPr>
        <p:spPr>
          <a:xfrm>
            <a:off x="548640" y="5943600"/>
            <a:ext cx="11064240" cy="640080"/>
          </a:xfrm>
          <a:prstGeom prst="round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989320"/>
            <a:ext cx="10789920" cy="594360"/>
          </a:xfrm>
          <a:prstGeom prst="rect">
            <a:avLst/>
          </a:prstGeom>
          <a:noFill/>
        </p:spPr>
        <p:txBody>
          <a:bodyPr wrap="square">
            <a:spAutoFit/>
          </a:bodyPr>
          <a:lstStyle/>
          <a:p>
            <a:pPr algn="ctr"/>
            <a:r>
              <a:rPr sz="1400" b="1" i="0">
                <a:solidFill>
                  <a:srgbClr val="1A2E4A"/>
                </a:solidFill>
                <a:latin typeface="Calibri"/>
              </a:rPr>
              <a:t>💡 Le secteur de l'énergie est l'un des plus actifs en matière d'innovation, avec des opportunités majeures pour les pays en développement.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6BC67C"/>
                </a:solidFill>
                <a:latin typeface="Calibri"/>
              </a:rPr>
              <a:t>02  LA SOLUTION IDENTIFIÉE</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M-KOPA Solar — Pay-As-You-Go (PAYGo)</a:t>
            </a:r>
          </a:p>
        </p:txBody>
      </p:sp>
      <p:sp>
        <p:nvSpPr>
          <p:cNvPr id="7" name="Rectangle 6"/>
          <p:cNvSpPr/>
          <p:nvPr/>
        </p:nvSpPr>
        <p:spPr>
          <a:xfrm>
            <a:off x="457200" y="1371600"/>
            <a:ext cx="7132320" cy="4389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63040"/>
            <a:ext cx="6766560" cy="457200"/>
          </a:xfrm>
          <a:prstGeom prst="rect">
            <a:avLst/>
          </a:prstGeom>
          <a:noFill/>
        </p:spPr>
        <p:txBody>
          <a:bodyPr wrap="square">
            <a:spAutoFit/>
          </a:bodyPr>
          <a:lstStyle/>
          <a:p>
            <a:pPr algn="l"/>
            <a:r>
              <a:rPr sz="1700" b="1" i="0">
                <a:solidFill>
                  <a:srgbClr val="2E8B57"/>
                </a:solidFill>
                <a:latin typeface="Calibri"/>
              </a:rPr>
              <a:t>Description de la solution</a:t>
            </a:r>
          </a:p>
        </p:txBody>
      </p:sp>
      <p:sp>
        <p:nvSpPr>
          <p:cNvPr id="9" name="TextBox 8"/>
          <p:cNvSpPr txBox="1"/>
          <p:nvPr/>
        </p:nvSpPr>
        <p:spPr>
          <a:xfrm>
            <a:off x="640080" y="2011680"/>
            <a:ext cx="6766560" cy="3474720"/>
          </a:xfrm>
          <a:prstGeom prst="rect">
            <a:avLst/>
          </a:prstGeom>
          <a:noFill/>
        </p:spPr>
        <p:txBody>
          <a:bodyPr wrap="square">
            <a:spAutoFit/>
          </a:bodyPr>
          <a:lstStyle/>
          <a:p>
            <a:pPr>
              <a:spcBef>
                <a:spcPts val="400"/>
              </a:spcBef>
            </a:pPr>
            <a:r>
              <a:rPr sz="1300">
                <a:solidFill>
                  <a:srgbClr val="333333"/>
                </a:solidFill>
                <a:latin typeface="Calibri"/>
              </a:rPr>
              <a:t>▸ M-KOPA Solar est une entreprise fondée au Kenya en 2011</a:t>
            </a:r>
          </a:p>
          <a:p>
            <a:pPr>
              <a:spcBef>
                <a:spcPts val="400"/>
              </a:spcBef>
            </a:pPr>
            <a:r>
              <a:rPr sz="1300">
                <a:solidFill>
                  <a:srgbClr val="333333"/>
                </a:solidFill>
                <a:latin typeface="Calibri"/>
              </a:rPr>
              <a:t>▸ Elle fournit des kits solaires résidentiels aux ménages hors-réseau</a:t>
            </a:r>
          </a:p>
          <a:p>
            <a:pPr>
              <a:spcBef>
                <a:spcPts val="400"/>
              </a:spcBef>
            </a:pPr>
            <a:r>
              <a:rPr sz="1300">
                <a:solidFill>
                  <a:srgbClr val="333333"/>
                </a:solidFill>
                <a:latin typeface="Calibri"/>
              </a:rPr>
              <a:t>▸ Le kit comprend : panneau solaire, batterie, lampes LED,
  chargeur USB et radio</a:t>
            </a:r>
          </a:p>
          <a:p>
            <a:pPr>
              <a:spcBef>
                <a:spcPts val="400"/>
              </a:spcBef>
            </a:pPr>
            <a:r>
              <a:rPr sz="1300">
                <a:solidFill>
                  <a:srgbClr val="333333"/>
                </a:solidFill>
                <a:latin typeface="Calibri"/>
              </a:rPr>
              <a:t>▸ Paiement progressif via mobile money (M-Pesa) — ~0,50 $/jour</a:t>
            </a:r>
          </a:p>
          <a:p>
            <a:pPr>
              <a:spcBef>
                <a:spcPts val="400"/>
              </a:spcBef>
            </a:pPr>
            <a:r>
              <a:rPr sz="1300">
                <a:solidFill>
                  <a:srgbClr val="333333"/>
                </a:solidFill>
                <a:latin typeface="Calibri"/>
              </a:rPr>
              <a:t>▸ Après ~12 mois de paiements, le kit appartient au client</a:t>
            </a:r>
          </a:p>
          <a:p>
            <a:pPr>
              <a:spcBef>
                <a:spcPts val="400"/>
              </a:spcBef>
            </a:pPr>
            <a:r>
              <a:rPr sz="1300">
                <a:solidFill>
                  <a:srgbClr val="333333"/>
                </a:solidFill>
                <a:latin typeface="Calibri"/>
              </a:rPr>
              <a:t>▸ Suivi à distance via IoT : coupure/réactivation automatique</a:t>
            </a:r>
          </a:p>
          <a:p>
            <a:pPr>
              <a:spcBef>
                <a:spcPts val="400"/>
              </a:spcBef>
            </a:pPr>
            <a:r>
              <a:rPr sz="1300">
                <a:solidFill>
                  <a:srgbClr val="333333"/>
                </a:solidFill>
                <a:latin typeface="Calibri"/>
              </a:rPr>
              <a:t>▸ Déployé au Kenya, Ouganda, Nigeria, Ghana et 8 autres pays</a:t>
            </a:r>
          </a:p>
          <a:p>
            <a:pPr>
              <a:spcBef>
                <a:spcPts val="400"/>
              </a:spcBef>
            </a:pPr>
            <a:r>
              <a:rPr sz="1300">
                <a:solidFill>
                  <a:srgbClr val="333333"/>
                </a:solidFill>
                <a:latin typeface="Calibri"/>
              </a:rPr>
              <a:t>▸ Plus de 1 million de foyers connectés (2023)</a:t>
            </a:r>
          </a:p>
        </p:txBody>
      </p:sp>
      <p:sp>
        <p:nvSpPr>
          <p:cNvPr id="10" name="Rectangle 9"/>
          <p:cNvSpPr/>
          <p:nvPr/>
        </p:nvSpPr>
        <p:spPr>
          <a:xfrm>
            <a:off x="7772400" y="1371600"/>
            <a:ext cx="4114800" cy="43891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463040"/>
            <a:ext cx="3840480" cy="457200"/>
          </a:xfrm>
          <a:prstGeom prst="rect">
            <a:avLst/>
          </a:prstGeom>
          <a:noFill/>
        </p:spPr>
        <p:txBody>
          <a:bodyPr wrap="square">
            <a:spAutoFit/>
          </a:bodyPr>
          <a:lstStyle/>
          <a:p>
            <a:pPr algn="ctr"/>
            <a:r>
              <a:rPr sz="1500" b="1" i="0">
                <a:solidFill>
                  <a:srgbClr val="F5C518"/>
                </a:solidFill>
                <a:latin typeface="Calibri"/>
              </a:rPr>
              <a:t>CHIFFRES CLÉS</a:t>
            </a:r>
          </a:p>
        </p:txBody>
      </p:sp>
      <p:sp>
        <p:nvSpPr>
          <p:cNvPr id="12" name="TextBox 11"/>
          <p:cNvSpPr txBox="1"/>
          <p:nvPr/>
        </p:nvSpPr>
        <p:spPr>
          <a:xfrm>
            <a:off x="7863840" y="2011680"/>
            <a:ext cx="1828800" cy="548640"/>
          </a:xfrm>
          <a:prstGeom prst="rect">
            <a:avLst/>
          </a:prstGeom>
          <a:noFill/>
        </p:spPr>
        <p:txBody>
          <a:bodyPr wrap="square">
            <a:spAutoFit/>
          </a:bodyPr>
          <a:lstStyle/>
          <a:p>
            <a:pPr algn="ctr"/>
            <a:r>
              <a:rPr sz="2200" b="1" i="0">
                <a:solidFill>
                  <a:srgbClr val="6BC67C"/>
                </a:solidFill>
                <a:latin typeface="Calibri"/>
              </a:rPr>
              <a:t>1M+</a:t>
            </a:r>
          </a:p>
        </p:txBody>
      </p:sp>
      <p:sp>
        <p:nvSpPr>
          <p:cNvPr id="13" name="TextBox 12"/>
          <p:cNvSpPr txBox="1"/>
          <p:nvPr/>
        </p:nvSpPr>
        <p:spPr>
          <a:xfrm>
            <a:off x="9692640" y="2011680"/>
            <a:ext cx="2011680" cy="548640"/>
          </a:xfrm>
          <a:prstGeom prst="rect">
            <a:avLst/>
          </a:prstGeom>
          <a:noFill/>
        </p:spPr>
        <p:txBody>
          <a:bodyPr wrap="square">
            <a:spAutoFit/>
          </a:bodyPr>
          <a:lstStyle/>
          <a:p>
            <a:pPr algn="l"/>
            <a:r>
              <a:rPr sz="1200" b="0" i="0">
                <a:solidFill>
                  <a:srgbClr val="F0F4F8"/>
                </a:solidFill>
                <a:latin typeface="Calibri"/>
              </a:rPr>
              <a:t>foyers connectés</a:t>
            </a:r>
          </a:p>
        </p:txBody>
      </p:sp>
      <p:sp>
        <p:nvSpPr>
          <p:cNvPr id="14" name="TextBox 13"/>
          <p:cNvSpPr txBox="1"/>
          <p:nvPr/>
        </p:nvSpPr>
        <p:spPr>
          <a:xfrm>
            <a:off x="7863840" y="2926080"/>
            <a:ext cx="1828800" cy="548640"/>
          </a:xfrm>
          <a:prstGeom prst="rect">
            <a:avLst/>
          </a:prstGeom>
          <a:noFill/>
        </p:spPr>
        <p:txBody>
          <a:bodyPr wrap="square">
            <a:spAutoFit/>
          </a:bodyPr>
          <a:lstStyle/>
          <a:p>
            <a:pPr algn="ctr"/>
            <a:r>
              <a:rPr sz="2200" b="1" i="0">
                <a:solidFill>
                  <a:srgbClr val="6BC67C"/>
                </a:solidFill>
                <a:latin typeface="Calibri"/>
              </a:rPr>
              <a:t>$0.50</a:t>
            </a:r>
          </a:p>
        </p:txBody>
      </p:sp>
      <p:sp>
        <p:nvSpPr>
          <p:cNvPr id="15" name="TextBox 14"/>
          <p:cNvSpPr txBox="1"/>
          <p:nvPr/>
        </p:nvSpPr>
        <p:spPr>
          <a:xfrm>
            <a:off x="9692640" y="2926080"/>
            <a:ext cx="2011680" cy="548640"/>
          </a:xfrm>
          <a:prstGeom prst="rect">
            <a:avLst/>
          </a:prstGeom>
          <a:noFill/>
        </p:spPr>
        <p:txBody>
          <a:bodyPr wrap="square">
            <a:spAutoFit/>
          </a:bodyPr>
          <a:lstStyle/>
          <a:p>
            <a:pPr algn="l"/>
            <a:r>
              <a:rPr sz="1200" b="0" i="0">
                <a:solidFill>
                  <a:srgbClr val="F0F4F8"/>
                </a:solidFill>
                <a:latin typeface="Calibri"/>
              </a:rPr>
              <a:t>par jour (coût moyen)</a:t>
            </a:r>
          </a:p>
        </p:txBody>
      </p:sp>
      <p:sp>
        <p:nvSpPr>
          <p:cNvPr id="16" name="TextBox 15"/>
          <p:cNvSpPr txBox="1"/>
          <p:nvPr/>
        </p:nvSpPr>
        <p:spPr>
          <a:xfrm>
            <a:off x="7863840" y="3840480"/>
            <a:ext cx="1828800" cy="548640"/>
          </a:xfrm>
          <a:prstGeom prst="rect">
            <a:avLst/>
          </a:prstGeom>
          <a:noFill/>
        </p:spPr>
        <p:txBody>
          <a:bodyPr wrap="square">
            <a:spAutoFit/>
          </a:bodyPr>
          <a:lstStyle/>
          <a:p>
            <a:pPr algn="ctr"/>
            <a:r>
              <a:rPr sz="2200" b="1" i="0">
                <a:solidFill>
                  <a:srgbClr val="6BC67C"/>
                </a:solidFill>
                <a:latin typeface="Calibri"/>
              </a:rPr>
              <a:t>89%</a:t>
            </a:r>
          </a:p>
        </p:txBody>
      </p:sp>
      <p:sp>
        <p:nvSpPr>
          <p:cNvPr id="17" name="TextBox 16"/>
          <p:cNvSpPr txBox="1"/>
          <p:nvPr/>
        </p:nvSpPr>
        <p:spPr>
          <a:xfrm>
            <a:off x="9692640" y="3840480"/>
            <a:ext cx="2011680" cy="548640"/>
          </a:xfrm>
          <a:prstGeom prst="rect">
            <a:avLst/>
          </a:prstGeom>
          <a:noFill/>
        </p:spPr>
        <p:txBody>
          <a:bodyPr wrap="square">
            <a:spAutoFit/>
          </a:bodyPr>
          <a:lstStyle/>
          <a:p>
            <a:pPr algn="l"/>
            <a:r>
              <a:rPr sz="1200" b="0" i="0">
                <a:solidFill>
                  <a:srgbClr val="F0F4F8"/>
                </a:solidFill>
                <a:latin typeface="Calibri"/>
              </a:rPr>
              <a:t>chute du coût solaire
depuis 2010</a:t>
            </a:r>
          </a:p>
        </p:txBody>
      </p:sp>
      <p:sp>
        <p:nvSpPr>
          <p:cNvPr id="18" name="TextBox 17"/>
          <p:cNvSpPr txBox="1"/>
          <p:nvPr/>
        </p:nvSpPr>
        <p:spPr>
          <a:xfrm>
            <a:off x="7863840" y="4754880"/>
            <a:ext cx="1828800" cy="548640"/>
          </a:xfrm>
          <a:prstGeom prst="rect">
            <a:avLst/>
          </a:prstGeom>
          <a:noFill/>
        </p:spPr>
        <p:txBody>
          <a:bodyPr wrap="square">
            <a:spAutoFit/>
          </a:bodyPr>
          <a:lstStyle/>
          <a:p>
            <a:pPr algn="ctr"/>
            <a:r>
              <a:rPr sz="2200" b="1" i="0">
                <a:solidFill>
                  <a:srgbClr val="6BC67C"/>
                </a:solidFill>
                <a:latin typeface="Calibri"/>
              </a:rPr>
              <a:t>12 pays</a:t>
            </a:r>
          </a:p>
        </p:txBody>
      </p:sp>
      <p:sp>
        <p:nvSpPr>
          <p:cNvPr id="19" name="TextBox 18"/>
          <p:cNvSpPr txBox="1"/>
          <p:nvPr/>
        </p:nvSpPr>
        <p:spPr>
          <a:xfrm>
            <a:off x="9692640" y="4754880"/>
            <a:ext cx="2011680" cy="548640"/>
          </a:xfrm>
          <a:prstGeom prst="rect">
            <a:avLst/>
          </a:prstGeom>
          <a:noFill/>
        </p:spPr>
        <p:txBody>
          <a:bodyPr wrap="square">
            <a:spAutoFit/>
          </a:bodyPr>
          <a:lstStyle/>
          <a:p>
            <a:pPr algn="l"/>
            <a:r>
              <a:rPr sz="1200" b="0" i="0">
                <a:solidFill>
                  <a:srgbClr val="F0F4F8"/>
                </a:solidFill>
                <a:latin typeface="Calibri"/>
              </a:rPr>
              <a:t>de déploiement</a:t>
            </a:r>
          </a:p>
        </p:txBody>
      </p:sp>
      <p:sp>
        <p:nvSpPr>
          <p:cNvPr id="20" name="Rectangle 19"/>
          <p:cNvSpPr/>
          <p:nvPr/>
        </p:nvSpPr>
        <p:spPr>
          <a:xfrm>
            <a:off x="0" y="5943600"/>
            <a:ext cx="12188952" cy="9144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035040"/>
            <a:ext cx="10972800" cy="548640"/>
          </a:xfrm>
          <a:prstGeom prst="rect">
            <a:avLst/>
          </a:prstGeom>
          <a:noFill/>
        </p:spPr>
        <p:txBody>
          <a:bodyPr wrap="square">
            <a:spAutoFit/>
          </a:bodyPr>
          <a:lstStyle/>
          <a:p>
            <a:pPr algn="ctr"/>
            <a:r>
              <a:rPr sz="1300" b="0" i="0">
                <a:solidFill>
                  <a:srgbClr val="FFFFFF"/>
                </a:solidFill>
                <a:latin typeface="Calibri"/>
              </a:rPr>
              <a:t>Secteur : Énergie   |   Technologie : IoT + Mobile Money + Solaire   |   Contexte : Afrique subsaharienne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F5C518"/>
                </a:solidFill>
                <a:latin typeface="Calibri"/>
              </a:rPr>
              <a:t>03  ANALYSE DE L'INNOVATION</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En Quoi M-KOPA Est-elle une Innovation ?</a:t>
            </a:r>
          </a:p>
        </p:txBody>
      </p:sp>
      <p:sp>
        <p:nvSpPr>
          <p:cNvPr id="7" name="Rounded Rectangle 6"/>
          <p:cNvSpPr/>
          <p:nvPr/>
        </p:nvSpPr>
        <p:spPr>
          <a:xfrm>
            <a:off x="457200" y="1371600"/>
            <a:ext cx="3657600" cy="685800"/>
          </a:xfrm>
          <a:prstGeom prst="round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17320"/>
            <a:ext cx="3657600" cy="594360"/>
          </a:xfrm>
          <a:prstGeom prst="rect">
            <a:avLst/>
          </a:prstGeom>
          <a:noFill/>
        </p:spPr>
        <p:txBody>
          <a:bodyPr wrap="square">
            <a:spAutoFit/>
          </a:bodyPr>
          <a:lstStyle/>
          <a:p>
            <a:pPr algn="ctr"/>
            <a:r>
              <a:rPr sz="1600" b="1" i="0">
                <a:solidFill>
                  <a:srgbClr val="FFFFFF"/>
                </a:solidFill>
                <a:latin typeface="Calibri"/>
              </a:rPr>
              <a:t>🆕 NOUVEAUTÉ</a:t>
            </a:r>
          </a:p>
        </p:txBody>
      </p:sp>
      <p:sp>
        <p:nvSpPr>
          <p:cNvPr id="9" name="Rectangle 8"/>
          <p:cNvSpPr/>
          <p:nvPr/>
        </p:nvSpPr>
        <p:spPr>
          <a:xfrm>
            <a:off x="457200" y="2103120"/>
            <a:ext cx="365760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94560"/>
            <a:ext cx="3474720" cy="3566160"/>
          </a:xfrm>
          <a:prstGeom prst="rect">
            <a:avLst/>
          </a:prstGeom>
          <a:noFill/>
        </p:spPr>
        <p:txBody>
          <a:bodyPr wrap="square">
            <a:spAutoFit/>
          </a:bodyPr>
          <a:lstStyle/>
          <a:p>
            <a:pPr>
              <a:spcBef>
                <a:spcPts val="400"/>
              </a:spcBef>
            </a:pPr>
            <a:r>
              <a:rPr sz="1300">
                <a:solidFill>
                  <a:srgbClr val="333333"/>
                </a:solidFill>
                <a:latin typeface="Calibri"/>
              </a:rPr>
              <a:t>✓ Combinaison inédite : solaire + IoT + mobile money</a:t>
            </a:r>
          </a:p>
          <a:p>
            <a:pPr>
              <a:spcBef>
                <a:spcPts val="400"/>
              </a:spcBef>
            </a:pPr>
            <a:r>
              <a:rPr sz="1300">
                <a:solidFill>
                  <a:srgbClr val="333333"/>
                </a:solidFill>
                <a:latin typeface="Calibri"/>
              </a:rPr>
              <a:t>✓ Modèle PAYGo : rupture avec la vente traditionnelle</a:t>
            </a:r>
          </a:p>
          <a:p>
            <a:pPr>
              <a:spcBef>
                <a:spcPts val="400"/>
              </a:spcBef>
            </a:pPr>
            <a:r>
              <a:rPr sz="1300">
                <a:solidFill>
                  <a:srgbClr val="333333"/>
                </a:solidFill>
                <a:latin typeface="Calibri"/>
              </a:rPr>
              <a:t>✓ Coupure/réactivation automatique via SIM — première mondiale</a:t>
            </a:r>
          </a:p>
          <a:p>
            <a:pPr>
              <a:spcBef>
                <a:spcPts val="400"/>
              </a:spcBef>
            </a:pPr>
            <a:r>
              <a:rPr sz="1300">
                <a:solidFill>
                  <a:srgbClr val="333333"/>
                </a:solidFill>
                <a:latin typeface="Calibri"/>
              </a:rPr>
              <a:t>✓ Credit scoring basé sur l'historique de paiement mobile</a:t>
            </a:r>
          </a:p>
        </p:txBody>
      </p:sp>
      <p:sp>
        <p:nvSpPr>
          <p:cNvPr id="11" name="Rounded Rectangle 10"/>
          <p:cNvSpPr/>
          <p:nvPr/>
        </p:nvSpPr>
        <p:spPr>
          <a:xfrm>
            <a:off x="4297680" y="1371600"/>
            <a:ext cx="3657600" cy="68580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417320"/>
            <a:ext cx="3657600" cy="594360"/>
          </a:xfrm>
          <a:prstGeom prst="rect">
            <a:avLst/>
          </a:prstGeom>
          <a:noFill/>
        </p:spPr>
        <p:txBody>
          <a:bodyPr wrap="square">
            <a:spAutoFit/>
          </a:bodyPr>
          <a:lstStyle/>
          <a:p>
            <a:pPr algn="ctr"/>
            <a:r>
              <a:rPr sz="1600" b="1" i="0">
                <a:solidFill>
                  <a:srgbClr val="FFFFFF"/>
                </a:solidFill>
                <a:latin typeface="Calibri"/>
              </a:rPr>
              <a:t>✅ USAGE RÉEL</a:t>
            </a:r>
          </a:p>
        </p:txBody>
      </p:sp>
      <p:sp>
        <p:nvSpPr>
          <p:cNvPr id="13" name="Rectangle 12"/>
          <p:cNvSpPr/>
          <p:nvPr/>
        </p:nvSpPr>
        <p:spPr>
          <a:xfrm>
            <a:off x="4297680" y="2103120"/>
            <a:ext cx="365760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2194560"/>
            <a:ext cx="3474720" cy="3566160"/>
          </a:xfrm>
          <a:prstGeom prst="rect">
            <a:avLst/>
          </a:prstGeom>
          <a:noFill/>
        </p:spPr>
        <p:txBody>
          <a:bodyPr wrap="square">
            <a:spAutoFit/>
          </a:bodyPr>
          <a:lstStyle/>
          <a:p>
            <a:pPr>
              <a:spcBef>
                <a:spcPts val="400"/>
              </a:spcBef>
            </a:pPr>
            <a:r>
              <a:rPr sz="1300">
                <a:solidFill>
                  <a:srgbClr val="333333"/>
                </a:solidFill>
                <a:latin typeface="Calibri"/>
              </a:rPr>
              <a:t>✓ Plus de 1 million de foyers utilisateurs actifs</a:t>
            </a:r>
          </a:p>
          <a:p>
            <a:pPr>
              <a:spcBef>
                <a:spcPts val="400"/>
              </a:spcBef>
            </a:pPr>
            <a:r>
              <a:rPr sz="1300">
                <a:solidFill>
                  <a:srgbClr val="333333"/>
                </a:solidFill>
                <a:latin typeface="Calibri"/>
              </a:rPr>
              <a:t>✓ Replacé la kerosène et les bougies (80 % des utilisateurs)</a:t>
            </a:r>
          </a:p>
          <a:p>
            <a:pPr>
              <a:spcBef>
                <a:spcPts val="400"/>
              </a:spcBef>
            </a:pPr>
            <a:r>
              <a:rPr sz="1300">
                <a:solidFill>
                  <a:srgbClr val="333333"/>
                </a:solidFill>
                <a:latin typeface="Calibri"/>
              </a:rPr>
              <a:t>✓ Testé et validé dans des conditions rurales difficiles</a:t>
            </a:r>
          </a:p>
          <a:p>
            <a:pPr>
              <a:spcBef>
                <a:spcPts val="400"/>
              </a:spcBef>
            </a:pPr>
            <a:r>
              <a:rPr sz="1300">
                <a:solidFill>
                  <a:srgbClr val="333333"/>
                </a:solidFill>
                <a:latin typeface="Calibri"/>
              </a:rPr>
              <a:t>✓ Partenariats avec gouvernements et ONGs</a:t>
            </a:r>
          </a:p>
        </p:txBody>
      </p:sp>
      <p:sp>
        <p:nvSpPr>
          <p:cNvPr id="15" name="Rounded Rectangle 14"/>
          <p:cNvSpPr/>
          <p:nvPr/>
        </p:nvSpPr>
        <p:spPr>
          <a:xfrm>
            <a:off x="8138160" y="1371600"/>
            <a:ext cx="3657600" cy="685800"/>
          </a:xfrm>
          <a:prstGeom prst="roundRect">
            <a:avLst/>
          </a:prstGeom>
          <a:solidFill>
            <a:srgbClr val="E86B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1417320"/>
            <a:ext cx="3657600" cy="594360"/>
          </a:xfrm>
          <a:prstGeom prst="rect">
            <a:avLst/>
          </a:prstGeom>
          <a:noFill/>
        </p:spPr>
        <p:txBody>
          <a:bodyPr wrap="square">
            <a:spAutoFit/>
          </a:bodyPr>
          <a:lstStyle/>
          <a:p>
            <a:pPr algn="ctr"/>
            <a:r>
              <a:rPr sz="1600" b="1" i="0">
                <a:solidFill>
                  <a:srgbClr val="FFFFFF"/>
                </a:solidFill>
                <a:latin typeface="Calibri"/>
              </a:rPr>
              <a:t>💰 VALEUR CRÉÉE</a:t>
            </a:r>
          </a:p>
        </p:txBody>
      </p:sp>
      <p:sp>
        <p:nvSpPr>
          <p:cNvPr id="17" name="Rectangle 16"/>
          <p:cNvSpPr/>
          <p:nvPr/>
        </p:nvSpPr>
        <p:spPr>
          <a:xfrm>
            <a:off x="8138160" y="2103120"/>
            <a:ext cx="3657600" cy="3749039"/>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194560"/>
            <a:ext cx="3474720" cy="3566160"/>
          </a:xfrm>
          <a:prstGeom prst="rect">
            <a:avLst/>
          </a:prstGeom>
          <a:noFill/>
        </p:spPr>
        <p:txBody>
          <a:bodyPr wrap="square">
            <a:spAutoFit/>
          </a:bodyPr>
          <a:lstStyle/>
          <a:p>
            <a:pPr>
              <a:spcBef>
                <a:spcPts val="400"/>
              </a:spcBef>
            </a:pPr>
            <a:r>
              <a:rPr sz="1300">
                <a:solidFill>
                  <a:srgbClr val="333333"/>
                </a:solidFill>
                <a:latin typeface="Calibri"/>
              </a:rPr>
              <a:t>✓ Économies de 35 $/mois sur le kerosène</a:t>
            </a:r>
          </a:p>
          <a:p>
            <a:pPr>
              <a:spcBef>
                <a:spcPts val="400"/>
              </a:spcBef>
            </a:pPr>
            <a:r>
              <a:rPr sz="1300">
                <a:solidFill>
                  <a:srgbClr val="333333"/>
                </a:solidFill>
                <a:latin typeface="Calibri"/>
              </a:rPr>
              <a:t>✓ Accès à l'éducation (éclairage la nuit)</a:t>
            </a:r>
          </a:p>
          <a:p>
            <a:pPr>
              <a:spcBef>
                <a:spcPts val="400"/>
              </a:spcBef>
            </a:pPr>
            <a:r>
              <a:rPr sz="1300">
                <a:solidFill>
                  <a:srgbClr val="333333"/>
                </a:solidFill>
                <a:latin typeface="Calibri"/>
              </a:rPr>
              <a:t>✓ Score de crédit → accès à d'autres produits financiers</a:t>
            </a:r>
          </a:p>
          <a:p>
            <a:pPr>
              <a:spcBef>
                <a:spcPts val="400"/>
              </a:spcBef>
            </a:pPr>
            <a:r>
              <a:rPr sz="1300">
                <a:solidFill>
                  <a:srgbClr val="333333"/>
                </a:solidFill>
                <a:latin typeface="Calibri"/>
              </a:rPr>
              <a:t>✓ Réduction CO₂ : ~1 tonne/ménage/an</a:t>
            </a:r>
          </a:p>
        </p:txBody>
      </p:sp>
      <p:sp>
        <p:nvSpPr>
          <p:cNvPr id="19" name="TextBox 18"/>
          <p:cNvSpPr txBox="1"/>
          <p:nvPr/>
        </p:nvSpPr>
        <p:spPr>
          <a:xfrm>
            <a:off x="457200" y="6035040"/>
            <a:ext cx="11247120" cy="548640"/>
          </a:xfrm>
          <a:prstGeom prst="rect">
            <a:avLst/>
          </a:prstGeom>
          <a:noFill/>
        </p:spPr>
        <p:txBody>
          <a:bodyPr wrap="square">
            <a:spAutoFit/>
          </a:bodyPr>
          <a:lstStyle/>
          <a:p>
            <a:pPr algn="ctr"/>
            <a:r>
              <a:rPr sz="1300" b="0" i="1">
                <a:solidFill>
                  <a:srgbClr val="333333"/>
                </a:solidFill>
                <a:latin typeface="Calibri"/>
              </a:rPr>
              <a:t>Selon le cours : l'innovation = idée + adoption + impact durable (Module 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E86B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6BC67C"/>
                </a:solidFill>
                <a:latin typeface="Calibri"/>
              </a:rPr>
              <a:t>04  ANALYSE SWOT SIMPLIFIÉE</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Forces et Limites de M-KOPA Solar</a:t>
            </a:r>
          </a:p>
        </p:txBody>
      </p:sp>
      <p:sp>
        <p:nvSpPr>
          <p:cNvPr id="7" name="Rounded Rectangle 6"/>
          <p:cNvSpPr/>
          <p:nvPr/>
        </p:nvSpPr>
        <p:spPr>
          <a:xfrm>
            <a:off x="457200" y="1371600"/>
            <a:ext cx="5303520" cy="59436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89888"/>
            <a:ext cx="5303520" cy="566928"/>
          </a:xfrm>
          <a:prstGeom prst="rect">
            <a:avLst/>
          </a:prstGeom>
          <a:noFill/>
        </p:spPr>
        <p:txBody>
          <a:bodyPr wrap="square">
            <a:spAutoFit/>
          </a:bodyPr>
          <a:lstStyle/>
          <a:p>
            <a:pPr algn="ctr"/>
            <a:r>
              <a:rPr sz="1700" b="1" i="0">
                <a:solidFill>
                  <a:srgbClr val="FFFFFF"/>
                </a:solidFill>
                <a:latin typeface="Calibri"/>
              </a:rPr>
              <a:t>💪 FORCES</a:t>
            </a:r>
          </a:p>
        </p:txBody>
      </p:sp>
      <p:sp>
        <p:nvSpPr>
          <p:cNvPr id="9" name="Rectangle 8"/>
          <p:cNvSpPr/>
          <p:nvPr/>
        </p:nvSpPr>
        <p:spPr>
          <a:xfrm>
            <a:off x="457200" y="2011680"/>
            <a:ext cx="5303520" cy="3749039"/>
          </a:xfrm>
          <a:prstGeom prst="rect">
            <a:avLst/>
          </a:prstGeom>
          <a:solidFill>
            <a:srgbClr val="E8F8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103120"/>
            <a:ext cx="5120640" cy="3566160"/>
          </a:xfrm>
          <a:prstGeom prst="rect">
            <a:avLst/>
          </a:prstGeom>
          <a:noFill/>
        </p:spPr>
        <p:txBody>
          <a:bodyPr wrap="square">
            <a:spAutoFit/>
          </a:bodyPr>
          <a:lstStyle/>
          <a:p>
            <a:pPr>
              <a:spcBef>
                <a:spcPts val="400"/>
              </a:spcBef>
            </a:pPr>
            <a:r>
              <a:rPr sz="1300">
                <a:solidFill>
                  <a:srgbClr val="1A5C2A"/>
                </a:solidFill>
                <a:latin typeface="Calibri"/>
              </a:rPr>
              <a:t>✔ Modèle économique adapté aux revenus irréguliers</a:t>
            </a:r>
          </a:p>
          <a:p>
            <a:pPr>
              <a:spcBef>
                <a:spcPts val="400"/>
              </a:spcBef>
            </a:pPr>
            <a:r>
              <a:rPr sz="1300">
                <a:solidFill>
                  <a:srgbClr val="1A5C2A"/>
                </a:solidFill>
                <a:latin typeface="Calibri"/>
              </a:rPr>
              <a:t>✔ Infrastructure légère — pas de réseau électrique requis</a:t>
            </a:r>
          </a:p>
          <a:p>
            <a:pPr>
              <a:spcBef>
                <a:spcPts val="400"/>
              </a:spcBef>
            </a:pPr>
            <a:r>
              <a:rPr sz="1300">
                <a:solidFill>
                  <a:srgbClr val="1A5C2A"/>
                </a:solidFill>
                <a:latin typeface="Calibri"/>
              </a:rPr>
              <a:t>✔ Technologie IoT pour la gestion à distance des impayés</a:t>
            </a:r>
          </a:p>
          <a:p>
            <a:pPr>
              <a:spcBef>
                <a:spcPts val="400"/>
              </a:spcBef>
            </a:pPr>
            <a:r>
              <a:rPr sz="1300">
                <a:solidFill>
                  <a:srgbClr val="1A5C2A"/>
                </a:solidFill>
                <a:latin typeface="Calibri"/>
              </a:rPr>
              <a:t>✔ Impact social mesurable (santé, éducation, revenus)</a:t>
            </a:r>
          </a:p>
          <a:p>
            <a:pPr>
              <a:spcBef>
                <a:spcPts val="400"/>
              </a:spcBef>
            </a:pPr>
            <a:r>
              <a:rPr sz="1300">
                <a:solidFill>
                  <a:srgbClr val="1A5C2A"/>
                </a:solidFill>
                <a:latin typeface="Calibri"/>
              </a:rPr>
              <a:t>✔ Intégration avec l'écosystème mobile money existant</a:t>
            </a:r>
          </a:p>
          <a:p>
            <a:pPr>
              <a:spcBef>
                <a:spcPts val="400"/>
              </a:spcBef>
            </a:pPr>
            <a:r>
              <a:rPr sz="1300">
                <a:solidFill>
                  <a:srgbClr val="1A5C2A"/>
                </a:solidFill>
                <a:latin typeface="Calibri"/>
              </a:rPr>
              <a:t>✔ Innovation frugale : simple, robuste, réparable localement</a:t>
            </a:r>
          </a:p>
          <a:p>
            <a:pPr>
              <a:spcBef>
                <a:spcPts val="400"/>
              </a:spcBef>
            </a:pPr>
            <a:r>
              <a:rPr sz="1300">
                <a:solidFill>
                  <a:srgbClr val="1A5C2A"/>
                </a:solidFill>
                <a:latin typeface="Calibri"/>
              </a:rPr>
              <a:t>✔ Financement du développement durable (ODD 7, ODD 13)</a:t>
            </a:r>
          </a:p>
        </p:txBody>
      </p:sp>
      <p:sp>
        <p:nvSpPr>
          <p:cNvPr id="11" name="Rounded Rectangle 10"/>
          <p:cNvSpPr/>
          <p:nvPr/>
        </p:nvSpPr>
        <p:spPr>
          <a:xfrm>
            <a:off x="6217920" y="1371600"/>
            <a:ext cx="5669280" cy="594360"/>
          </a:xfrm>
          <a:prstGeom prst="roundRect">
            <a:avLst/>
          </a:prstGeom>
          <a:solidFill>
            <a:srgbClr val="E86B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389888"/>
            <a:ext cx="5669280" cy="566928"/>
          </a:xfrm>
          <a:prstGeom prst="rect">
            <a:avLst/>
          </a:prstGeom>
          <a:noFill/>
        </p:spPr>
        <p:txBody>
          <a:bodyPr wrap="square">
            <a:spAutoFit/>
          </a:bodyPr>
          <a:lstStyle/>
          <a:p>
            <a:pPr algn="ctr"/>
            <a:r>
              <a:rPr sz="1700" b="1" i="0">
                <a:solidFill>
                  <a:srgbClr val="FFFFFF"/>
                </a:solidFill>
                <a:latin typeface="Calibri"/>
              </a:rPr>
              <a:t>⚠ LIMITES</a:t>
            </a:r>
          </a:p>
        </p:txBody>
      </p:sp>
      <p:sp>
        <p:nvSpPr>
          <p:cNvPr id="13" name="Rectangle 12"/>
          <p:cNvSpPr/>
          <p:nvPr/>
        </p:nvSpPr>
        <p:spPr>
          <a:xfrm>
            <a:off x="6217920" y="2011680"/>
            <a:ext cx="5669280" cy="3749039"/>
          </a:xfrm>
          <a:prstGeom prst="rect">
            <a:avLst/>
          </a:prstGeom>
          <a:solidFill>
            <a:srgbClr val="FD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103120"/>
            <a:ext cx="5486400" cy="3566160"/>
          </a:xfrm>
          <a:prstGeom prst="rect">
            <a:avLst/>
          </a:prstGeom>
          <a:noFill/>
        </p:spPr>
        <p:txBody>
          <a:bodyPr wrap="square">
            <a:spAutoFit/>
          </a:bodyPr>
          <a:lstStyle/>
          <a:p>
            <a:pPr>
              <a:spcBef>
                <a:spcPts val="400"/>
              </a:spcBef>
            </a:pPr>
            <a:r>
              <a:rPr sz="1300">
                <a:solidFill>
                  <a:srgbClr val="8B2E10"/>
                </a:solidFill>
                <a:latin typeface="Calibri"/>
              </a:rPr>
              <a:t>✖ Dépendance à la couverture réseau mobile</a:t>
            </a:r>
          </a:p>
          <a:p>
            <a:pPr>
              <a:spcBef>
                <a:spcPts val="400"/>
              </a:spcBef>
            </a:pPr>
            <a:r>
              <a:rPr sz="1300">
                <a:solidFill>
                  <a:srgbClr val="8B2E10"/>
                </a:solidFill>
                <a:latin typeface="Calibri"/>
              </a:rPr>
              <a:t>✖ Capacité énergétique limitée (usage domestique de base)</a:t>
            </a:r>
          </a:p>
          <a:p>
            <a:pPr>
              <a:spcBef>
                <a:spcPts val="400"/>
              </a:spcBef>
            </a:pPr>
            <a:r>
              <a:rPr sz="1300">
                <a:solidFill>
                  <a:srgbClr val="8B2E10"/>
                </a:solidFill>
                <a:latin typeface="Calibri"/>
              </a:rPr>
              <a:t>✖ Endettement possible si revenus insuffisants</a:t>
            </a:r>
          </a:p>
          <a:p>
            <a:pPr>
              <a:spcBef>
                <a:spcPts val="400"/>
              </a:spcBef>
            </a:pPr>
            <a:r>
              <a:rPr sz="1300">
                <a:solidFill>
                  <a:srgbClr val="8B2E10"/>
                </a:solidFill>
                <a:latin typeface="Calibri"/>
              </a:rPr>
              <a:t>✖ Gestion des déchets électroniques (batteries en fin de vie)</a:t>
            </a:r>
          </a:p>
          <a:p>
            <a:pPr>
              <a:spcBef>
                <a:spcPts val="400"/>
              </a:spcBef>
            </a:pPr>
            <a:r>
              <a:rPr sz="1300">
                <a:solidFill>
                  <a:srgbClr val="8B2E10"/>
                </a:solidFill>
                <a:latin typeface="Calibri"/>
              </a:rPr>
              <a:t>✖ Difficile à maintenir sans techniciens formés localement</a:t>
            </a:r>
          </a:p>
          <a:p>
            <a:pPr>
              <a:spcBef>
                <a:spcPts val="400"/>
              </a:spcBef>
            </a:pPr>
            <a:r>
              <a:rPr sz="1300">
                <a:solidFill>
                  <a:srgbClr val="8B2E10"/>
                </a:solidFill>
                <a:latin typeface="Calibri"/>
              </a:rPr>
              <a:t>✖ Modèle moins adapté aux usages productifs (pompe, moulin)</a:t>
            </a:r>
          </a:p>
        </p:txBody>
      </p:sp>
      <p:sp>
        <p:nvSpPr>
          <p:cNvPr id="15" name="Rectangle 14"/>
          <p:cNvSpPr/>
          <p:nvPr/>
        </p:nvSpPr>
        <p:spPr>
          <a:xfrm>
            <a:off x="5943600" y="1371600"/>
            <a:ext cx="91440" cy="4572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
            <a:ext cx="10972800" cy="548640"/>
          </a:xfrm>
          <a:prstGeom prst="rect">
            <a:avLst/>
          </a:prstGeom>
          <a:noFill/>
        </p:spPr>
        <p:txBody>
          <a:bodyPr wrap="square">
            <a:spAutoFit/>
          </a:bodyPr>
          <a:lstStyle/>
          <a:p>
            <a:pPr algn="l"/>
            <a:r>
              <a:rPr sz="1400" b="1" i="0">
                <a:solidFill>
                  <a:srgbClr val="6BC67C"/>
                </a:solidFill>
                <a:latin typeface="Calibri"/>
              </a:rPr>
              <a:t>05  AMÉLIORATIONS &amp; ALTERNATIVES</a:t>
            </a:r>
          </a:p>
        </p:txBody>
      </p:sp>
      <p:sp>
        <p:nvSpPr>
          <p:cNvPr id="6" name="TextBox 5"/>
          <p:cNvSpPr txBox="1"/>
          <p:nvPr/>
        </p:nvSpPr>
        <p:spPr>
          <a:xfrm>
            <a:off x="548640" y="502920"/>
            <a:ext cx="10972800" cy="731520"/>
          </a:xfrm>
          <a:prstGeom prst="rect">
            <a:avLst/>
          </a:prstGeom>
          <a:noFill/>
        </p:spPr>
        <p:txBody>
          <a:bodyPr wrap="square">
            <a:spAutoFit/>
          </a:bodyPr>
          <a:lstStyle/>
          <a:p>
            <a:pPr algn="l"/>
            <a:r>
              <a:rPr sz="2600" b="1" i="0">
                <a:solidFill>
                  <a:srgbClr val="FFFFFF"/>
                </a:solidFill>
                <a:latin typeface="Calibri"/>
              </a:rPr>
              <a:t>Propositions d'Amélioration</a:t>
            </a:r>
          </a:p>
        </p:txBody>
      </p:sp>
      <p:sp>
        <p:nvSpPr>
          <p:cNvPr id="7" name="Rounded Rectangle 6"/>
          <p:cNvSpPr/>
          <p:nvPr/>
        </p:nvSpPr>
        <p:spPr>
          <a:xfrm>
            <a:off x="457200" y="1325880"/>
            <a:ext cx="11247120" cy="640080"/>
          </a:xfrm>
          <a:prstGeom prst="roundRect">
            <a:avLst/>
          </a:prstGeom>
          <a:solidFill>
            <a:srgbClr val="4A9E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10972800" cy="566928"/>
          </a:xfrm>
          <a:prstGeom prst="rect">
            <a:avLst/>
          </a:prstGeom>
          <a:noFill/>
        </p:spPr>
        <p:txBody>
          <a:bodyPr wrap="square">
            <a:spAutoFit/>
          </a:bodyPr>
          <a:lstStyle/>
          <a:p>
            <a:pPr algn="l"/>
            <a:r>
              <a:rPr sz="1600" b="1" i="0">
                <a:solidFill>
                  <a:srgbClr val="FFFFFF"/>
                </a:solidFill>
                <a:latin typeface="Calibri"/>
              </a:rPr>
              <a:t>🔧 AMÉLIORATION 1 — IA Prédictive pour l'optimisation de la consommation</a:t>
            </a:r>
          </a:p>
        </p:txBody>
      </p:sp>
      <p:sp>
        <p:nvSpPr>
          <p:cNvPr id="9" name="Rectangle 8"/>
          <p:cNvSpPr/>
          <p:nvPr/>
        </p:nvSpPr>
        <p:spPr>
          <a:xfrm>
            <a:off x="457200" y="2011680"/>
            <a:ext cx="11247120" cy="1737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057400"/>
            <a:ext cx="10972800" cy="1645920"/>
          </a:xfrm>
          <a:prstGeom prst="rect">
            <a:avLst/>
          </a:prstGeom>
          <a:noFill/>
        </p:spPr>
        <p:txBody>
          <a:bodyPr wrap="square">
            <a:spAutoFit/>
          </a:bodyPr>
          <a:lstStyle/>
          <a:p>
            <a:pPr algn="l"/>
            <a:r>
              <a:rPr sz="1300" b="0" i="0">
                <a:solidFill>
                  <a:srgbClr val="333333"/>
                </a:solidFill>
                <a:latin typeface="Calibri"/>
              </a:rPr>
              <a:t>Intégrer un algorithme d'IA (apprentissage automatique) dans le contrôleur du kit solaire pour analyser les habitudes de consommation du foyer et optimiser la gestion de la batterie. Le système prédirait les périodes de forte utilisation et alerterait l'utilisateur avant une décharge critique — réduisant les interruptions et prolongeant la durée de vie de la batterie de 20-30 %.
Justification : le cours souligne que « l'IA doit amplifier les capacités humaines » et que l'innovation efficace doit être « simple et adaptée au contexte » (Module IV).</a:t>
            </a:r>
          </a:p>
        </p:txBody>
      </p:sp>
      <p:sp>
        <p:nvSpPr>
          <p:cNvPr id="11" name="Rounded Rectangle 10"/>
          <p:cNvSpPr/>
          <p:nvPr/>
        </p:nvSpPr>
        <p:spPr>
          <a:xfrm>
            <a:off x="457200" y="3886200"/>
            <a:ext cx="11247120" cy="64008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931920"/>
            <a:ext cx="10972800" cy="566928"/>
          </a:xfrm>
          <a:prstGeom prst="rect">
            <a:avLst/>
          </a:prstGeom>
          <a:noFill/>
        </p:spPr>
        <p:txBody>
          <a:bodyPr wrap="square">
            <a:spAutoFit/>
          </a:bodyPr>
          <a:lstStyle/>
          <a:p>
            <a:pPr algn="l"/>
            <a:r>
              <a:rPr sz="1600" b="1" i="0">
                <a:solidFill>
                  <a:srgbClr val="FFFFFF"/>
                </a:solidFill>
                <a:latin typeface="Calibri"/>
              </a:rPr>
              <a:t>🔄 AMÉLIORATION 2 — Mini-réseau communautaire mutualisé (Micro-Grid)</a:t>
            </a:r>
          </a:p>
        </p:txBody>
      </p:sp>
      <p:sp>
        <p:nvSpPr>
          <p:cNvPr id="13" name="Rectangle 12"/>
          <p:cNvSpPr/>
          <p:nvPr/>
        </p:nvSpPr>
        <p:spPr>
          <a:xfrm>
            <a:off x="457200" y="4572000"/>
            <a:ext cx="11247120" cy="1737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617720"/>
            <a:ext cx="10972800" cy="1645920"/>
          </a:xfrm>
          <a:prstGeom prst="rect">
            <a:avLst/>
          </a:prstGeom>
          <a:noFill/>
        </p:spPr>
        <p:txBody>
          <a:bodyPr wrap="square">
            <a:spAutoFit/>
          </a:bodyPr>
          <a:lstStyle/>
          <a:p>
            <a:pPr algn="l"/>
            <a:r>
              <a:rPr sz="1300" b="0" i="0">
                <a:solidFill>
                  <a:srgbClr val="333333"/>
                </a:solidFill>
                <a:latin typeface="Calibri"/>
              </a:rPr>
              <a:t>Plutôt que de fournir un kit individuel par foyer, proposer un micro-réseau solaire partagé pour 20 à 50 ménages d'un même village. Chaque ménage paie selon sa consommation mesurée par un compteur IoT. Ce modèle réduit le coût par foyer de 40 %, permet des usages productifs (moulin, pompe à eau, réfrigérateur communautaire) et facilite la maintenance centralisée.
Justification : « penser systémique et collectif » (Module II) et « innovation frugale adaptée aux contraintes locales » — approche Lean (Module III).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2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 cy="685800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0"/>
            <a:ext cx="12188952" cy="64008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65760"/>
            <a:ext cx="10972800" cy="548640"/>
          </a:xfrm>
          <a:prstGeom prst="rect">
            <a:avLst/>
          </a:prstGeom>
          <a:noFill/>
        </p:spPr>
        <p:txBody>
          <a:bodyPr wrap="square">
            <a:spAutoFit/>
          </a:bodyPr>
          <a:lstStyle/>
          <a:p>
            <a:pPr algn="l"/>
            <a:r>
              <a:rPr sz="1600" b="1" i="0">
                <a:solidFill>
                  <a:srgbClr val="6BC67C"/>
                </a:solidFill>
                <a:latin typeface="Calibri"/>
              </a:rPr>
              <a:t>06  CONCLUSION</a:t>
            </a:r>
          </a:p>
        </p:txBody>
      </p:sp>
      <p:sp>
        <p:nvSpPr>
          <p:cNvPr id="6" name="TextBox 5"/>
          <p:cNvSpPr txBox="1"/>
          <p:nvPr/>
        </p:nvSpPr>
        <p:spPr>
          <a:xfrm>
            <a:off x="640080" y="822960"/>
            <a:ext cx="10972800" cy="731520"/>
          </a:xfrm>
          <a:prstGeom prst="rect">
            <a:avLst/>
          </a:prstGeom>
          <a:noFill/>
        </p:spPr>
        <p:txBody>
          <a:bodyPr wrap="square">
            <a:spAutoFit/>
          </a:bodyPr>
          <a:lstStyle/>
          <a:p>
            <a:pPr algn="l"/>
            <a:r>
              <a:rPr sz="2800" b="1" i="0">
                <a:solidFill>
                  <a:srgbClr val="FFFFFF"/>
                </a:solidFill>
                <a:latin typeface="Calibri"/>
              </a:rPr>
              <a:t>M-KOPA Solar : une Innovation Systémique</a:t>
            </a:r>
          </a:p>
        </p:txBody>
      </p:sp>
      <p:sp>
        <p:nvSpPr>
          <p:cNvPr id="7" name="Rectangle 6"/>
          <p:cNvSpPr/>
          <p:nvPr/>
        </p:nvSpPr>
        <p:spPr>
          <a:xfrm>
            <a:off x="640080" y="1645920"/>
            <a:ext cx="5486400" cy="45720"/>
          </a:xfrm>
          <a:prstGeom prst="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737360"/>
            <a:ext cx="7772400" cy="3840480"/>
          </a:xfrm>
          <a:prstGeom prst="rect">
            <a:avLst/>
          </a:prstGeom>
          <a:noFill/>
        </p:spPr>
        <p:txBody>
          <a:bodyPr wrap="square">
            <a:spAutoFit/>
          </a:bodyPr>
          <a:lstStyle/>
          <a:p>
            <a:pPr>
              <a:spcBef>
                <a:spcPts val="400"/>
              </a:spcBef>
            </a:pPr>
            <a:r>
              <a:rPr sz="1500">
                <a:solidFill>
                  <a:srgbClr val="F0F4F8"/>
                </a:solidFill>
                <a:latin typeface="Calibri"/>
              </a:rPr>
              <a:t>➤ M-KOPA n'est pas seulement un produit solaire — c'est un système socio-technique complet</a:t>
            </a:r>
          </a:p>
          <a:p>
            <a:pPr>
              <a:spcBef>
                <a:spcPts val="400"/>
              </a:spcBef>
            </a:pPr>
            <a:r>
              <a:rPr sz="1500">
                <a:solidFill>
                  <a:srgbClr val="F0F4F8"/>
                </a:solidFill>
                <a:latin typeface="Calibri"/>
              </a:rPr>
              <a:t>➤ Elle répond à un vrai problème (760M sans électricité) avec une solution adoptée et durable</a:t>
            </a:r>
          </a:p>
          <a:p>
            <a:pPr>
              <a:spcBef>
                <a:spcPts val="400"/>
              </a:spcBef>
            </a:pPr>
            <a:r>
              <a:rPr sz="1500">
                <a:solidFill>
                  <a:srgbClr val="F0F4F8"/>
                </a:solidFill>
                <a:latin typeface="Calibri"/>
              </a:rPr>
              <a:t>➤ La valeur créée est à la fois économique, sociale et environnementale</a:t>
            </a:r>
          </a:p>
          <a:p>
            <a:pPr>
              <a:spcBef>
                <a:spcPts val="400"/>
              </a:spcBef>
            </a:pPr>
            <a:r>
              <a:rPr sz="1500">
                <a:solidFill>
                  <a:srgbClr val="F0F4F8"/>
                </a:solidFill>
                <a:latin typeface="Calibri"/>
              </a:rPr>
              <a:t>➤ Ses limites ouvrent la voie à des innovations complémentaires (IA, micro-grids)</a:t>
            </a:r>
          </a:p>
          <a:p>
            <a:pPr>
              <a:spcBef>
                <a:spcPts val="400"/>
              </a:spcBef>
            </a:pPr>
            <a:r>
              <a:rPr sz="1500">
                <a:solidFill>
                  <a:srgbClr val="F0F4F8"/>
                </a:solidFill>
                <a:latin typeface="Calibri"/>
              </a:rPr>
              <a:t>➤ Elle illustre parfaitement le triangle Créativité → Invention → Innovation du cours</a:t>
            </a:r>
          </a:p>
        </p:txBody>
      </p:sp>
      <p:sp>
        <p:nvSpPr>
          <p:cNvPr id="9" name="Rounded Rectangle 8"/>
          <p:cNvSpPr/>
          <p:nvPr/>
        </p:nvSpPr>
        <p:spPr>
          <a:xfrm>
            <a:off x="8686800" y="1828800"/>
            <a:ext cx="3017520" cy="731520"/>
          </a:xfrm>
          <a:prstGeom prst="roundRect">
            <a:avLst/>
          </a:prstGeom>
          <a:solidFill>
            <a:srgbClr val="F5C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0" y="1828800"/>
            <a:ext cx="3017520" cy="731520"/>
          </a:xfrm>
          <a:prstGeom prst="rect">
            <a:avLst/>
          </a:prstGeom>
          <a:noFill/>
        </p:spPr>
        <p:txBody>
          <a:bodyPr wrap="square">
            <a:spAutoFit/>
          </a:bodyPr>
          <a:lstStyle/>
          <a:p>
            <a:pPr algn="ctr"/>
            <a:r>
              <a:rPr sz="1600" b="1" i="0">
                <a:solidFill>
                  <a:srgbClr val="1A2E4A"/>
                </a:solidFill>
                <a:latin typeface="Calibri"/>
              </a:rPr>
              <a:t>Créativité</a:t>
            </a:r>
          </a:p>
        </p:txBody>
      </p:sp>
      <p:sp>
        <p:nvSpPr>
          <p:cNvPr id="11" name="Rectangle 10"/>
          <p:cNvSpPr/>
          <p:nvPr/>
        </p:nvSpPr>
        <p:spPr>
          <a:xfrm>
            <a:off x="9966960" y="2560320"/>
            <a:ext cx="457200" cy="365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0" y="3017520"/>
            <a:ext cx="3017520" cy="731520"/>
          </a:xfrm>
          <a:prstGeom prst="roundRect">
            <a:avLst/>
          </a:prstGeom>
          <a:solidFill>
            <a:srgbClr val="6BC6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0" y="3017520"/>
            <a:ext cx="3017520" cy="731520"/>
          </a:xfrm>
          <a:prstGeom prst="rect">
            <a:avLst/>
          </a:prstGeom>
          <a:noFill/>
        </p:spPr>
        <p:txBody>
          <a:bodyPr wrap="square">
            <a:spAutoFit/>
          </a:bodyPr>
          <a:lstStyle/>
          <a:p>
            <a:pPr algn="ctr"/>
            <a:r>
              <a:rPr sz="1600" b="1" i="0">
                <a:solidFill>
                  <a:srgbClr val="FFFFFF"/>
                </a:solidFill>
                <a:latin typeface="Calibri"/>
              </a:rPr>
              <a:t>Invention</a:t>
            </a:r>
          </a:p>
        </p:txBody>
      </p:sp>
      <p:sp>
        <p:nvSpPr>
          <p:cNvPr id="14" name="Rectangle 13"/>
          <p:cNvSpPr/>
          <p:nvPr/>
        </p:nvSpPr>
        <p:spPr>
          <a:xfrm>
            <a:off x="9966960" y="3749039"/>
            <a:ext cx="457200" cy="3657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686800" y="4206240"/>
            <a:ext cx="3017520" cy="731520"/>
          </a:xfrm>
          <a:prstGeom prst="round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0" y="4206240"/>
            <a:ext cx="3017520" cy="731520"/>
          </a:xfrm>
          <a:prstGeom prst="rect">
            <a:avLst/>
          </a:prstGeom>
          <a:noFill/>
        </p:spPr>
        <p:txBody>
          <a:bodyPr wrap="square">
            <a:spAutoFit/>
          </a:bodyPr>
          <a:lstStyle/>
          <a:p>
            <a:pPr algn="ctr"/>
            <a:r>
              <a:rPr sz="1600" b="1" i="0">
                <a:solidFill>
                  <a:srgbClr val="FFFFFF"/>
                </a:solidFill>
                <a:latin typeface="Calibri"/>
              </a:rPr>
              <a:t>INNOVATION ✓</a:t>
            </a:r>
          </a:p>
        </p:txBody>
      </p:sp>
      <p:sp>
        <p:nvSpPr>
          <p:cNvPr id="17" name="TextBox 16"/>
          <p:cNvSpPr txBox="1"/>
          <p:nvPr/>
        </p:nvSpPr>
        <p:spPr>
          <a:xfrm>
            <a:off x="457200" y="6263640"/>
            <a:ext cx="10972800" cy="457200"/>
          </a:xfrm>
          <a:prstGeom prst="rect">
            <a:avLst/>
          </a:prstGeom>
          <a:noFill/>
        </p:spPr>
        <p:txBody>
          <a:bodyPr wrap="square">
            <a:spAutoFit/>
          </a:bodyPr>
          <a:lstStyle/>
          <a:p>
            <a:pPr algn="ctr"/>
            <a:r>
              <a:rPr sz="1200" b="0" i="0">
                <a:solidFill>
                  <a:srgbClr val="FFFFFF"/>
                </a:solidFill>
                <a:latin typeface="Calibri"/>
              </a:rPr>
              <a:t>M-KOPA Solar — Secteur Énergie  |  Institut 2iE  |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