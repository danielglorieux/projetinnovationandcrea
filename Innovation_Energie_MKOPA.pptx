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5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274320"/>
            <a:ext cx="2286000" cy="2286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INNOVATION DANS LE SECTEUR DE L'ÉNERGIE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BC67C"/>
                </a:solidFill>
                <a:latin typeface="Calibri"/>
              </a:rPr>
              <a:t>Le Pay-As-You-Go Solar : M-KOPA et l'accès à l'énergie propre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7315200" cy="36576"/>
          </a:xfrm>
          <a:prstGeom prst="rect">
            <a:avLst/>
          </a:prstGeom>
          <a:solidFill>
            <a:srgbClr val="6B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Cours : Innovation et Créativité – S8 IA &amp; 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Institut 2iE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Exercice pratique – Analyse d'une innovation existante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903D3EC-947F-074F-D5B1-CF365E797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70" y="247425"/>
            <a:ext cx="2286000" cy="2316892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40D59364-60AA-579F-37CB-514F20199E17}"/>
              </a:ext>
            </a:extLst>
          </p:cNvPr>
          <p:cNvSpPr txBox="1"/>
          <p:nvPr/>
        </p:nvSpPr>
        <p:spPr>
          <a:xfrm>
            <a:off x="731520" y="4773168"/>
            <a:ext cx="8229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dirty="0">
                <a:solidFill>
                  <a:srgbClr val="F0F4F8"/>
                </a:solidFill>
                <a:latin typeface="Calibri"/>
              </a:rPr>
              <a:t>Membres du groupe</a:t>
            </a:r>
            <a:r>
              <a:rPr sz="1400" b="0" i="0" dirty="0">
                <a:solidFill>
                  <a:srgbClr val="F0F4F8"/>
                </a:solidFill>
                <a:latin typeface="Calibri"/>
              </a:rPr>
              <a:t> |  </a:t>
            </a:r>
            <a:r>
              <a:rPr lang="fr-FR" sz="1400" dirty="0">
                <a:solidFill>
                  <a:srgbClr val="F0F4F8"/>
                </a:solidFill>
                <a:latin typeface="Calibri"/>
              </a:rPr>
              <a:t>BAKOUAN Jean de Dieu</a:t>
            </a:r>
          </a:p>
          <a:p>
            <a:pPr algn="l"/>
            <a:r>
              <a:rPr lang="fr-FR" sz="1400" b="0" i="0" dirty="0">
                <a:solidFill>
                  <a:srgbClr val="F0F4F8"/>
                </a:solidFill>
                <a:latin typeface="Calibri"/>
              </a:rPr>
              <a:t>			</a:t>
            </a:r>
            <a:r>
              <a:rPr lang="fr-FR" sz="1400" dirty="0">
                <a:solidFill>
                  <a:srgbClr val="F0F4F8"/>
                </a:solidFill>
                <a:latin typeface="Calibri"/>
              </a:rPr>
              <a:t>        ILBOUDO Daniel Glorieux</a:t>
            </a:r>
          </a:p>
          <a:p>
            <a:pPr algn="l"/>
            <a:r>
              <a:rPr lang="fr-FR" sz="1400" b="0" i="0" dirty="0">
                <a:solidFill>
                  <a:srgbClr val="F0F4F8"/>
                </a:solidFill>
                <a:latin typeface="Calibri"/>
              </a:rPr>
              <a:t>			</a:t>
            </a:r>
            <a:r>
              <a:rPr lang="fr-FR" sz="1400" dirty="0">
                <a:solidFill>
                  <a:srgbClr val="F0F4F8"/>
                </a:solidFill>
                <a:latin typeface="Calibri"/>
              </a:rPr>
              <a:t>        KONE Zana</a:t>
            </a:r>
            <a:endParaRPr sz="1400" b="0" i="0" dirty="0">
              <a:solidFill>
                <a:srgbClr val="F0F4F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2188952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40080" cy="502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Revue de littérature – Le secteur de l'énergie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640080" cy="502920"/>
          </a:xfrm>
          <a:prstGeom prst="round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Présentation de la solution : M-KOPA Solar (PAYGo)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0" cy="502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En quoi est-ce une innovation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640080" cy="502920"/>
          </a:xfrm>
          <a:prstGeom prst="round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Forces et limites de la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640080" cy="502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Améliorations et alternatives proposées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640080" cy="502920"/>
          </a:xfrm>
          <a:prstGeom prst="round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01  REVUE DE LITTÉRATURE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Contexte Énergétique Mondial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594360"/>
          </a:xfrm>
          <a:prstGeom prst="round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Enjeux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globaux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47472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Dépendance aux énergies fossiles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Émissions GES : +50 % depuis 1990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Crise climatique : COP21, Accord de Paris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Hausse des prix de l'énergie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371600"/>
            <a:ext cx="3474720" cy="5943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389888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Accès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à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l'énergie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0" y="2011680"/>
            <a:ext cx="347472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760 millions de personnes sans électricité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90 % en Afrique subsaharienne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Frein au développement économique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ODD 7 : énergie propre et accessible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71600"/>
            <a:ext cx="3474720" cy="594360"/>
          </a:xfrm>
          <a:prstGeom prst="round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1389888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Innovations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émergentes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0" y="2011680"/>
            <a:ext cx="347472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Énergies renouvelables (solaire, éolien)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Réseaux intelligents (Smart Grids)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Stockage par batteries (Li-ion, flow)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IoT &amp; IA pour l'optimisation énergétique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01  REVUE DE LITTÉRATURE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État de l'Art : Innovations Énergétiques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37160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2000s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645920"/>
            <a:ext cx="36576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417320"/>
            <a:ext cx="93268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14447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Développement des énergies renouvelables à grande échelle
(parcs éoliens offshore, fermes solaires PV)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37160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2010s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788920"/>
            <a:ext cx="36576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0" y="2560320"/>
            <a:ext cx="93268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5877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Démocratisation du solaire résidentiel, chute des coûts (-89 %)
et apparition des modèles pay-as-you-go en Afrique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37160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2015-2020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931920"/>
            <a:ext cx="36576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0" y="3703320"/>
            <a:ext cx="93268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77440" y="37307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IA &amp; Big Data appliqués à la gestion des réseaux électriques
(prédiction de la demande, maintenance prédictive)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137160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2020+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5074920"/>
            <a:ext cx="36576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0" y="4846320"/>
            <a:ext cx="93268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48737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Véhicules électriques, Virtual Power Plants (VPP)
et marchés d'échange d'énergie pair-à-pair (P2P)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2E4A"/>
                </a:solidFill>
                <a:latin typeface="Calibri"/>
              </a:rPr>
              <a:t>💡 Le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secteur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de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l'énergie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est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l'un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des plus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actifs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en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matière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d'innovation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, avec des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opportunités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majeures pour les pays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en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2E4A"/>
                </a:solidFill>
                <a:latin typeface="Calibri"/>
              </a:rPr>
              <a:t>développement</a:t>
            </a:r>
            <a:r>
              <a:rPr sz="1400" b="1" i="0" dirty="0">
                <a:solidFill>
                  <a:srgbClr val="1A2E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C67C"/>
                </a:solidFill>
                <a:latin typeface="Calibri"/>
              </a:rPr>
              <a:t>02  LA SOLUTION IDENTIFIÉE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M-KOPA Solar — Pay-As-You-Go (PAYGo)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132320" cy="4389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8B57"/>
                </a:solidFill>
                <a:latin typeface="Calibri"/>
              </a:rPr>
              <a:t>Description de la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6766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M-KOPA Solar est une entreprise fondée au Kenya en 2011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Elle fournit des kits solaires résidentiels aux ménages hors-réseau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Le kit comprend : panneau solaire, batterie, lampes LED,
  chargeur USB et radio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Paiement progressif via mobile money (M-Pesa) — ~0,50 $/jour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Après ~12 mois de paiements, le kit appartient au client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Suivi à distance via IoT : coupure/réactivation automatique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Déployé au Kenya, Ouganda, Nigeria, Ghana et 8 autres pays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▸ Plus de 1 million de foyers connectés (2023)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4114800" cy="4389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463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C518"/>
                </a:solidFill>
                <a:latin typeface="Calibri"/>
              </a:rPr>
              <a:t>CHIFFRES CLÉS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C67C"/>
                </a:solidFill>
                <a:latin typeface="Calibri"/>
              </a:rPr>
              <a:t>1M+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foyers connectés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C67C"/>
                </a:solidFill>
                <a:latin typeface="Calibri"/>
              </a:rPr>
              <a:t>$0.50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par jour (coût moyen)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C67C"/>
                </a:solidFill>
                <a:latin typeface="Calibri"/>
              </a:rPr>
              <a:t>89%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chute du coût solaire
depuis 2010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C67C"/>
                </a:solidFill>
                <a:latin typeface="Calibri"/>
              </a:rPr>
              <a:t>12 pays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de déploiement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Secteur : Énergie   |   Technologie : IoT + Mobile Money + Solaire   |   Contexte : Afrique subsaharienne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03  ANALYSE DE L'INNOVATION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 Quoi M-KOPA Est-elle une Innovation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685800"/>
          </a:xfrm>
          <a:prstGeom prst="round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NOUVEAUTÉ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57600" cy="37490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Combinaison inédite : solaire + IoT + mobile money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Modèle PAYGo : rupture avec la vente traditionnelle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Coupure/réactivation automatique via SIM — première mondiale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Credit scoring basé sur l'historique de paiement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USAGE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657600" cy="37490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Plus de 1 million de foyers utilisateurs actifs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Replacé la kerosène et les bougies (80 % des utilisateurs)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Testé et validé dans des conditions rurales difficiles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Partenariats avec gouvernements et ONGs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685800"/>
          </a:xfrm>
          <a:prstGeom prst="round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417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VALEUR CRÉÉE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57600" cy="37490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Économies de 35 $/mois sur le kerosène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Accès à l'éducation (éclairage la nuit)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Score de crédit → accès à d'autres produits financiers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✓ Réduction CO₂ : ~1 tonne/ménage/an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C67C"/>
                </a:solidFill>
                <a:latin typeface="Calibri"/>
              </a:rPr>
              <a:t>04  ANALYSE SWOT SIMPLIFIÉE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Forces et Limites de M-KOPA Solar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5943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3035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FORCES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3749039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Modèle économique adapté aux revenus irréguliers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Infrastructure légère — pas de réseau électrique requis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Technologie IoT pour la gestion à distance des impayés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Impact social mesurable (santé, éducation, revenus)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Intégration avec l'écosystème mobile money existant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Innovation frugale : simple, robuste, réparable localement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5C2A"/>
                </a:solidFill>
                <a:latin typeface="Calibri"/>
              </a:rPr>
              <a:t>✔ Financement du développement durable (ODD 7, ODD 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669280" cy="594360"/>
          </a:xfrm>
          <a:prstGeom prst="round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389888"/>
            <a:ext cx="56692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LIMITES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669280" cy="3749039"/>
          </a:xfrm>
          <a:prstGeom prst="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Dépendance à la couverture réseau mobile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Capacité énergétique limitée (usage domestique de base)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Endettement possible si revenus insuffisants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Gestion des déchets électroniques (batteries en fin de vie)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Difficile à maintenir sans techniciens formés localement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B2E10"/>
                </a:solidFill>
                <a:latin typeface="Calibri"/>
              </a:rPr>
              <a:t>✖ Modèle moins adapté aux usages productifs (pompe, moulin)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91440" cy="438911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C67C"/>
                </a:solidFill>
                <a:latin typeface="Calibri"/>
              </a:rPr>
              <a:t>05  AMÉLIORATIONS &amp;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Propositions d'Amélioration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47120" cy="640080"/>
          </a:xfrm>
          <a:prstGeom prst="round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52285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AMÉLIORATION 1 — IA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Prédictive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pour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l'optimisation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de la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consommation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247120" cy="1737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0972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333333"/>
                </a:solidFill>
                <a:latin typeface="Calibri"/>
              </a:rPr>
              <a:t>Intégrer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un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algorithme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d'IA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apprentissage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automatique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) dans le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contrôleur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du kit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solaire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pour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analyser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les habitudes de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consommation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du foyer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optimiser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la gestion de la batterie. Le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système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prédirait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les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périodes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de forte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utilisation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alerterait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l'utilisateur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avant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une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décharge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critique —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réduisant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les interruptions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prolongeant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la durée de vie de la batterie de 20-30 %</a:t>
            </a:r>
            <a:endParaRPr lang="fr-FR" sz="13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333333"/>
                </a:solidFill>
                <a:latin typeface="Calibri"/>
              </a:rPr>
              <a:t>
Justification : le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cours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souligne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«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l'IA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doit amplifier les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capacités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humaines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»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l'innovation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efficace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doit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être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« simple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adaptée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au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contexte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» (Module IV).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1124712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036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AMÉLIORATION 2 — Mini-réseau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communautaire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mutualisé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(Micro-Grid)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09728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333333"/>
                </a:solidFill>
                <a:latin typeface="Calibri"/>
              </a:rPr>
              <a:t>Plutôt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fournir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un kit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individuel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par foyer, proposer un micro-réseau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solaire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partagé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pour 20 à 50 ménages d'un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même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village.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Chaque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ménage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paie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selon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sa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consommation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mesurée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par un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compteur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IoT. Ce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modèle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réduit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coût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par foyer de 40 %,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permet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des usages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productifs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(moulin,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pompe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à eau,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réfrigérateur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communautaire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)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facilite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la maintenance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centralisée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.</a:t>
            </a:r>
            <a:endParaRPr lang="fr-FR" sz="13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333333"/>
                </a:solidFill>
                <a:latin typeface="Calibri"/>
              </a:rPr>
              <a:t>
Justification : «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penser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systémique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et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collectif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» (Module II) et « innovation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frugale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adaptée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aux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contraintes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locales » — </a:t>
            </a:r>
            <a:r>
              <a:rPr sz="1300" b="0" i="0" dirty="0" err="1">
                <a:solidFill>
                  <a:srgbClr val="333333"/>
                </a:solidFill>
                <a:latin typeface="Calibri"/>
              </a:rPr>
              <a:t>approche</a:t>
            </a:r>
            <a:r>
              <a:rPr sz="1300" b="0" i="0" dirty="0">
                <a:solidFill>
                  <a:srgbClr val="333333"/>
                </a:solidFill>
                <a:latin typeface="Calibri"/>
              </a:rPr>
              <a:t> Lean (Module III).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C67C"/>
                </a:solidFill>
                <a:latin typeface="Calibri"/>
              </a:rPr>
              <a:t>06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M-KOPA Solar : une Innovation Systémique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4864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4F8"/>
                </a:solidFill>
                <a:latin typeface="Calibri"/>
              </a:rPr>
              <a:t>➤ M-KOPA n'est pas seulement un produit solaire — c'est un système socio-technique complet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4F8"/>
                </a:solidFill>
                <a:latin typeface="Calibri"/>
              </a:rPr>
              <a:t>➤ Elle répond à un vrai problème (760M sans électricité) avec une solution adoptée et durable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4F8"/>
                </a:solidFill>
                <a:latin typeface="Calibri"/>
              </a:rPr>
              <a:t>➤ La valeur créée est à la fois économique, sociale et environnementale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4F8"/>
                </a:solidFill>
                <a:latin typeface="Calibri"/>
              </a:rPr>
              <a:t>➤ Ses limites ouvrent la voie à des innovations complémentaires (IA, micro-grids)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4F8"/>
                </a:solidFill>
                <a:latin typeface="Calibri"/>
              </a:rPr>
              <a:t>➤ Elle illustre parfaitement le triangle Créativité → Invention → Innovation du cours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828800"/>
            <a:ext cx="3017520" cy="73152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2016007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1A2E4A"/>
                </a:solidFill>
                <a:latin typeface="Calibri"/>
              </a:rPr>
              <a:t>Créativité</a:t>
            </a:r>
            <a:endParaRPr sz="1600" b="1" i="0" dirty="0">
              <a:solidFill>
                <a:srgbClr val="1A2E4A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66960" y="2560320"/>
            <a:ext cx="4572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0" y="3017520"/>
            <a:ext cx="3017520" cy="731520"/>
          </a:xfrm>
          <a:prstGeom prst="roundRect">
            <a:avLst/>
          </a:prstGeom>
          <a:solidFill>
            <a:srgbClr val="6B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3223706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Invention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3749039"/>
            <a:ext cx="4572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0" y="4206240"/>
            <a:ext cx="3017520" cy="7315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4403470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INNOVATION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M-KOPA Solar — Secteur Énergie  |  Institut 2iE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1051</Words>
  <Application>Microsoft Office PowerPoint</Application>
  <PresentationFormat>Personnalisé</PresentationFormat>
  <Paragraphs>123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Pengdwendé Daniel Glorieux ILBOUDO</cp:lastModifiedBy>
  <cp:revision>7</cp:revision>
  <dcterms:created xsi:type="dcterms:W3CDTF">2013-01-27T09:14:16Z</dcterms:created>
  <dcterms:modified xsi:type="dcterms:W3CDTF">2026-03-04T15:07:18Z</dcterms:modified>
  <cp:category/>
</cp:coreProperties>
</file>