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0833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97280"/>
            <a:ext cx="1828800" cy="1828800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1188720"/>
            <a:ext cx="1371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>
                <a:solidFill>
                  <a:srgbClr val="FFFFFF"/>
                </a:solidFill>
              </a:rPr>
              <a:t>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1828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BBDEFF"/>
                </a:solidFill>
              </a:rPr>
              <a:t>Innovation &amp; Créativité | 2IE S8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1097280"/>
            <a:ext cx="8686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INNOVATION DANS LE
DOMAINE DE L'ÉNERGIE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520" y="3017520"/>
            <a:ext cx="8686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CA28"/>
                </a:solidFill>
              </a:rPr>
              <a:t>M-KOPA Solar : le modèle Pay-As-You-Go
comme levier d'accès universel à l'énergie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17520" y="2834640"/>
            <a:ext cx="8686800" cy="36576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0CAF9"/>
                </a:solidFill>
              </a:rPr>
              <a:t>Revue de littérature  •  Description  •  Innovation  •  Forces &amp; Limites  •  Améliorations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1005840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PLAN DE LA PRÉSENTATION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58521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93776" y="1234440"/>
            <a:ext cx="1737360" cy="219456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1737360" cy="2194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1737360" cy="54864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207008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828800"/>
            <a:ext cx="1554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12121"/>
                </a:solidFill>
              </a:rPr>
              <a:t>Revue de
littérature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606040"/>
            <a:ext cx="1554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757575"/>
                </a:solidFill>
              </a:rPr>
              <a:t>Panorama du domaine
de l'énergie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59736" y="1234440"/>
            <a:ext cx="1737360" cy="219456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423160" y="1188720"/>
            <a:ext cx="1737360" cy="2194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423160" y="1188720"/>
            <a:ext cx="1737360" cy="5486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23160" y="1207008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14600" y="1828800"/>
            <a:ext cx="1554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12121"/>
                </a:solidFill>
              </a:rPr>
              <a:t>L'innovation
choisie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14600" y="2606040"/>
            <a:ext cx="1554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757575"/>
                </a:solidFill>
              </a:rPr>
              <a:t>M-KOPA Solar
Pay-As-You-Go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25696" y="1234440"/>
            <a:ext cx="1737360" cy="219456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89120" y="1188720"/>
            <a:ext cx="1737360" cy="2194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89120" y="1188720"/>
            <a:ext cx="1737360" cy="548640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9120" y="1207008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59" y="1828800"/>
            <a:ext cx="1554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12121"/>
                </a:solidFill>
              </a:rPr>
              <a:t>Description
de la solution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59" y="2606040"/>
            <a:ext cx="1554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757575"/>
                </a:solidFill>
              </a:rPr>
              <a:t>Fonctionnement
et technologie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91655" y="1234440"/>
            <a:ext cx="1737360" cy="219456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55079" y="1188720"/>
            <a:ext cx="1737360" cy="2194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55079" y="1188720"/>
            <a:ext cx="1737360" cy="54864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55079" y="1207008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19" y="1828800"/>
            <a:ext cx="1554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12121"/>
                </a:solidFill>
              </a:rPr>
              <a:t>En quoi est-ce
une innovation 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19" y="2606040"/>
            <a:ext cx="1554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757575"/>
                </a:solidFill>
              </a:rPr>
              <a:t>Nouveauté, usage réel,
valeur créée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357615" y="1234440"/>
            <a:ext cx="1737360" cy="219456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321040" y="1188720"/>
            <a:ext cx="1737360" cy="2194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321040" y="1188720"/>
            <a:ext cx="1737360" cy="54864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21040" y="1207008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0" y="1828800"/>
            <a:ext cx="1554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12121"/>
                </a:solidFill>
              </a:rPr>
              <a:t>Forces &amp;
Limites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0" y="2606040"/>
            <a:ext cx="1554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757575"/>
                </a:solidFill>
              </a:rPr>
              <a:t>Analyse critique
de la solution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323576" y="1234440"/>
            <a:ext cx="1737360" cy="219456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287000" y="1188720"/>
            <a:ext cx="1737360" cy="2194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287000" y="1188720"/>
            <a:ext cx="1737360" cy="54864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87000" y="1207008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78440" y="1828800"/>
            <a:ext cx="1554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12121"/>
                </a:solidFill>
              </a:rPr>
              <a:t>Améliorations
proposées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378440" y="2606040"/>
            <a:ext cx="1554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757575"/>
                </a:solidFill>
              </a:rPr>
              <a:t>Pistes d'évolution
et alternatives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0" y="6565392"/>
            <a:ext cx="12188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Innovation &amp; Créativité  |  Domaine de l'Énergie  |  2IE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1005840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01 | REVUE DE LITTÉRATURE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CA28"/>
                </a:solidFill>
              </a:rPr>
              <a:t>Panorama du domaine de l'énergie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58521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143000"/>
            <a:ext cx="5486400" cy="2514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143000"/>
            <a:ext cx="5486400" cy="41148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152144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🌍  Contexte Mondial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627632"/>
            <a:ext cx="5303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12121"/>
                </a:solidFill>
              </a:defRPr>
            </a:pPr>
            <a:r>
              <a:t>• 8 milliards d'individus, dont ~770 millions sans électricité (AIE, 2023)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212121"/>
                </a:solidFill>
              </a:rPr>
              <a:t>• La demande énergétique mondiale augmente de ~2 % par an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212121"/>
                </a:solidFill>
              </a:rPr>
              <a:t>• Les énergies fossiles représentent encore 80 % du mix énergétique mondial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212121"/>
                </a:solidFill>
              </a:rPr>
              <a:t>• Urgence climatique : objectif net zéro carbone d'ici 2050 (Accord de Paris)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212121"/>
                </a:solidFill>
              </a:rPr>
              <a:t>• Croissance des EnR : solaire +25 %/an, éolien +12 %/an (IRENA, 2023)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143000"/>
            <a:ext cx="5669280" cy="2514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143000"/>
            <a:ext cx="5669280" cy="4114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1152144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🌍  Afrique Subsaharienne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627632"/>
            <a:ext cx="54864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12121"/>
                </a:solidFill>
              </a:defRPr>
            </a:pPr>
            <a:r>
              <a:t>• 600 millions de personnes sans accès à l'électricité (Banque Mondiale)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212121"/>
                </a:solidFill>
              </a:rPr>
              <a:t>• Taux d'électrification rural : ~28 % en Afrique subsaharienne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212121"/>
                </a:solidFill>
              </a:rPr>
              <a:t>• Fort potentiel solaire : 4–6 kWh/m²/jour en moyenne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212121"/>
                </a:solidFill>
              </a:rPr>
              <a:t>• Réseaux électriques nationaux souvent peu fiables ou inexistants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212121"/>
                </a:solidFill>
              </a:rPr>
              <a:t>• Croissance démographique : +2,7 %/an → pression accrue sur l'énergie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3840480"/>
            <a:ext cx="1161288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3840480"/>
            <a:ext cx="11612880" cy="411480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3849624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⚡  Tendances Technologiques Majeures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343400"/>
            <a:ext cx="2103120" cy="1783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437083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47A1"/>
                </a:solidFill>
              </a:rPr>
              <a:t>Smart Grids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4846320"/>
            <a:ext cx="20116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757575"/>
                </a:solidFill>
              </a:rPr>
              <a:t>Réseaux intelligents intégrant
capteurs, IA et IoT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697479" y="4343400"/>
            <a:ext cx="2103120" cy="1783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43199" y="437083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47A1"/>
                </a:solidFill>
              </a:rPr>
              <a:t>Stockage énergie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199" y="4846320"/>
            <a:ext cx="20116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757575"/>
                </a:solidFill>
              </a:rPr>
              <a:t>Batteries lithium-ion,
flux et hydrogène vert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0" y="4343400"/>
            <a:ext cx="2103120" cy="1783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74920" y="437083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47A1"/>
                </a:solidFill>
              </a:rPr>
              <a:t>PAYG &amp; FinTech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74920" y="4846320"/>
            <a:ext cx="20116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757575"/>
                </a:solidFill>
              </a:rPr>
              <a:t>Modèles de paiement mobile
pour énergies hors-réseau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60919" y="4343400"/>
            <a:ext cx="2103120" cy="1783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06640" y="437083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47A1"/>
                </a:solidFill>
              </a:rPr>
              <a:t>IA &amp; Big Data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06640" y="4846320"/>
            <a:ext cx="20116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757575"/>
                </a:solidFill>
              </a:rPr>
              <a:t>Prédiction de consommation,
gestion optimisée des pics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692640" y="4343400"/>
            <a:ext cx="2103120" cy="1783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38360" y="437083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47A1"/>
                </a:solidFill>
              </a:rPr>
              <a:t>Mini-réseaux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38360" y="4846320"/>
            <a:ext cx="20116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757575"/>
                </a:solidFill>
              </a:rPr>
              <a:t>Solutions décentralisées
pour zones rurales isolées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0" y="6565392"/>
            <a:ext cx="12188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Innovation &amp; Créativité  |  Domaine de l'Énergie  |  2IE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1005840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02 | L'INNOVATION CHOISIE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CA28"/>
                </a:solidFill>
              </a:rPr>
              <a:t>M-KOPA Solar — Pay-As-You-Go Solar Energy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58521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143000"/>
            <a:ext cx="2926080" cy="274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188720"/>
            <a:ext cx="20116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0" i="0">
                <a:solidFill>
                  <a:srgbClr val="FF8F00"/>
                </a:solidFill>
              </a:rPr>
              <a:t>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78892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D47A1"/>
                </a:solidFill>
              </a:rPr>
              <a:t>M-KOPA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461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2E7D32"/>
                </a:solidFill>
              </a:rPr>
              <a:t>Solar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4023360"/>
            <a:ext cx="914400" cy="13716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8" y="4041648"/>
            <a:ext cx="87782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CA28"/>
                </a:solidFill>
              </a:rPr>
              <a:t>5M+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" y="4572000"/>
            <a:ext cx="87782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clients connectés
au Kenya, Ouganda,
Tanzanie, Ghana...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80160" y="4023360"/>
            <a:ext cx="914400" cy="13716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98448" y="4041648"/>
            <a:ext cx="87782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CA28"/>
                </a:solidFill>
              </a:rPr>
              <a:t>2012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98448" y="4572000"/>
            <a:ext cx="87782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Fondée à Nairobi,
Kenya — 1ère startup
climatique africaine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40280" y="4023360"/>
            <a:ext cx="914400" cy="13716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58568" y="4041648"/>
            <a:ext cx="87782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CA28"/>
                </a:solidFill>
              </a:rPr>
              <a:t>$0.5/j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58568" y="4572000"/>
            <a:ext cx="87782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Coût moyen
(vs. kérosène ~$1-2
par jour)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29000" y="1143000"/>
            <a:ext cx="8412480" cy="5166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6160" y="1234440"/>
            <a:ext cx="81381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D47A1"/>
                </a:solidFill>
              </a:defRPr>
            </a:pPr>
            <a:r>
              <a:t>Présentation de M-KOPA Solar</a:t>
            </a:r>
          </a:p>
          <a:p>
            <a:pPr algn="l"/>
            <a:r>
              <a:rPr sz="600" b="0" i="0">
                <a:solidFill>
                  <a:srgbClr val="212121"/>
                </a:solidFill>
              </a:rPr>
              <a:t/>
            </a:r>
          </a:p>
          <a:p>
            <a:pPr algn="l"/>
            <a:r>
              <a:rPr sz="1200" b="0" i="0">
                <a:solidFill>
                  <a:srgbClr val="212121"/>
                </a:solidFill>
              </a:rPr>
              <a:t>M-KOPA Solar est une entreprise kényane fondée en 2012, proposant des systèmes d'énergie solaire à domicile basés sur un modèle de paiement à la consommation (Pay-As-You-Go, PAYG) via téléphonie mobile.</a:t>
            </a:r>
          </a:p>
          <a:p>
            <a:pPr algn="l"/>
            <a:r>
              <a:rPr sz="400" b="0" i="0">
                <a:solidFill>
                  <a:srgbClr val="212121"/>
                </a:solidFill>
              </a:rPr>
              <a:t/>
            </a:r>
          </a:p>
          <a:p>
            <a:pPr algn="l"/>
            <a:r>
              <a:rPr sz="1300" b="1" i="0">
                <a:solidFill>
                  <a:srgbClr val="0D47A1"/>
                </a:solidFill>
              </a:rPr>
              <a:t>Contexte d'émergence :</a:t>
            </a:r>
          </a:p>
          <a:p>
            <a:pPr algn="l"/>
            <a:r>
              <a:rPr sz="1100" b="0" i="0">
                <a:solidFill>
                  <a:srgbClr val="212121"/>
                </a:solidFill>
              </a:rPr>
              <a:t>Dans un contexte où 600 millions d'Africains n'ont pas accès à l'électricité, les solutions classiques (extension du réseau) sont coûteuses et lentes. M-KOPA apporte une réponse décentralisée, abordable et technologiquement innovante.</a:t>
            </a:r>
          </a:p>
          <a:p>
            <a:pPr algn="l"/>
            <a:r>
              <a:rPr sz="400" b="0" i="0">
                <a:solidFill>
                  <a:srgbClr val="212121"/>
                </a:solidFill>
              </a:rPr>
              <a:t/>
            </a:r>
          </a:p>
          <a:p>
            <a:pPr algn="l"/>
            <a:r>
              <a:rPr sz="1300" b="1" i="0">
                <a:solidFill>
                  <a:srgbClr val="0D47A1"/>
                </a:solidFill>
              </a:rPr>
              <a:t>Secteur concerné :</a:t>
            </a:r>
          </a:p>
          <a:p>
            <a:pPr algn="l"/>
            <a:r>
              <a:rPr sz="1100" b="0" i="0">
                <a:solidFill>
                  <a:srgbClr val="212121"/>
                </a:solidFill>
              </a:rPr>
              <a:t>Énergie renouvelable hors-réseau (off-grid solar) combinée à la FinTech (paiement mobile via M-Pesa) et à l'IoT (télémétrie et contrôle à distance).</a:t>
            </a:r>
          </a:p>
          <a:p>
            <a:pPr algn="l"/>
            <a:r>
              <a:rPr sz="400" b="0" i="0">
                <a:solidFill>
                  <a:srgbClr val="212121"/>
                </a:solidFill>
              </a:rPr>
              <a:t/>
            </a:r>
          </a:p>
          <a:p>
            <a:pPr algn="l"/>
            <a:r>
              <a:rPr sz="1300" b="1" i="0">
                <a:solidFill>
                  <a:srgbClr val="0D47A1"/>
                </a:solidFill>
              </a:rPr>
              <a:t>Portée géographique :</a:t>
            </a:r>
          </a:p>
          <a:p>
            <a:pPr algn="l"/>
            <a:r>
              <a:rPr sz="1100" b="0" i="0">
                <a:solidFill>
                  <a:srgbClr val="212121"/>
                </a:solidFill>
              </a:rPr>
              <a:t>Kenya, Ouganda, Tanzanie, Éthiopie, Ghana, Nigeria — plus de 5 millions de foyers connectés, représentant 30+ millions de personnes bénéficiaires.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0" y="6565392"/>
            <a:ext cx="12188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Innovation &amp; Créativité  |  Domaine de l'Énergie  |  2IE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100584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03 | DESCRIPTION DE LA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Fonctionnement technique et modèle économique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58521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0515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D47A1"/>
                </a:solidFill>
              </a:rPr>
              <a:t>Comment ça marche ?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600200"/>
            <a:ext cx="2011680" cy="2011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600200"/>
            <a:ext cx="2011680" cy="4572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609344"/>
            <a:ext cx="2011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103120"/>
            <a:ext cx="1920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12121"/>
                </a:solidFill>
              </a:rPr>
              <a:t>Kit Solaire
Installé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69748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757575"/>
                </a:solidFill>
              </a:rPr>
              <a:t>Panneau 8W +
batterie + LED
+ port USB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95728" y="2286000"/>
            <a:ext cx="137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12121"/>
                </a:solidFill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32888" y="1600200"/>
            <a:ext cx="2011680" cy="2011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532888" y="1600200"/>
            <a:ext cx="2011680" cy="457200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32888" y="1609344"/>
            <a:ext cx="2011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78608" y="2103120"/>
            <a:ext cx="1920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12121"/>
                </a:solidFill>
              </a:rPr>
              <a:t>Paiement Mobile
M-Pesa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78608" y="269748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757575"/>
                </a:solidFill>
              </a:rPr>
              <a:t>~0,50 $/jour via
SMS ou appli
(recharge prépayée)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62856" y="2286000"/>
            <a:ext cx="137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12121"/>
                </a:solidFill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00016" y="1600200"/>
            <a:ext cx="2011680" cy="2011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700016" y="1600200"/>
            <a:ext cx="2011680" cy="4572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00016" y="1609344"/>
            <a:ext cx="2011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45736" y="2103120"/>
            <a:ext cx="1920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12121"/>
                </a:solidFill>
              </a:rPr>
              <a:t>Contrôleur IoT
Intelligent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45736" y="269748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757575"/>
                </a:solidFill>
              </a:rPr>
              <a:t>Puce SIM intégrée
suivi en temps réel
à distance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9984" y="2286000"/>
            <a:ext cx="137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12121"/>
                </a:solidFill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67144" y="1600200"/>
            <a:ext cx="2011680" cy="2011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867144" y="1600200"/>
            <a:ext cx="2011680" cy="4572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67144" y="1609344"/>
            <a:ext cx="2011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12864" y="2103120"/>
            <a:ext cx="1920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12121"/>
                </a:solidFill>
              </a:rPr>
              <a:t>Déblocage
Automatique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12864" y="269748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757575"/>
                </a:solidFill>
              </a:rPr>
              <a:t>Si paiement reçu :
système activé
24h à l'avance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97112" y="2286000"/>
            <a:ext cx="137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12121"/>
                </a:solidFill>
              </a:rP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034272" y="1600200"/>
            <a:ext cx="2011680" cy="2011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034272" y="1600200"/>
            <a:ext cx="2011680" cy="4572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34272" y="1609344"/>
            <a:ext cx="2011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79992" y="2103120"/>
            <a:ext cx="1920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12121"/>
                </a:solidFill>
              </a:rPr>
              <a:t>Propriété
Transférée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79992" y="269748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757575"/>
                </a:solidFill>
              </a:rPr>
              <a:t>Après 12-18 mois
de paiements,
kit = propriété client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3749039"/>
            <a:ext cx="5577840" cy="274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74320" y="3749039"/>
            <a:ext cx="5577840" cy="41148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5760" y="3758184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🔧  Composants Techniques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4233672"/>
            <a:ext cx="539496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12121"/>
                </a:solidFill>
              </a:defRPr>
            </a:pPr>
            <a:r>
              <a:t>• Panneau solaire 8W–40W selon le forfait choisi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212121"/>
                </a:solidFill>
              </a:rPr>
              <a:t>• Batterie lithium-ion intégrée (autonomie : 3–6h d'éclairage LED)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212121"/>
                </a:solidFill>
              </a:rPr>
              <a:t>• Contrôleur intelligent avec connectivité GSM/GPRS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212121"/>
                </a:solidFill>
              </a:rPr>
              <a:t>• Application mobile + USSD (SMS) pour paiement et suivi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212121"/>
                </a:solidFill>
              </a:rPr>
              <a:t>• API connectée à M-Pesa (télépaiement instantané)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212121"/>
                </a:solidFill>
              </a:rPr>
              <a:t>• Télémétrie : monitoring à distance de l'état du système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26480" y="3749039"/>
            <a:ext cx="5760720" cy="274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126480" y="3749039"/>
            <a:ext cx="5760720" cy="4114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17920" y="3758184"/>
            <a:ext cx="5577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💰  Modèle Économique PAYG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17920" y="4233672"/>
            <a:ext cx="557784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12121"/>
                </a:solidFill>
              </a:defRPr>
            </a:pPr>
            <a:r>
              <a:t>• Dépôt initial : ~35 USD (accès immédiat au kit)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212121"/>
                </a:solidFill>
              </a:rPr>
              <a:t>• Paiement journalier : ~0,50 USD/jour via mobile money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212121"/>
                </a:solidFill>
              </a:rPr>
              <a:t>• Durée : 12 à 18 mois → transfert de propriété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212121"/>
                </a:solidFill>
              </a:rPr>
              <a:t>• Coût total &lt; coût du kérosène sur la même période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212121"/>
                </a:solidFill>
              </a:rPr>
              <a:t>• Gamme : kit de base → système 200W avec TV et ventilateur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212121"/>
                </a:solidFill>
              </a:rPr>
              <a:t>• Aussi : prêts agriculture, eau, motos électriques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0" y="6565392"/>
            <a:ext cx="12188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Innovation &amp; Créativité  |  Domaine de l'Énergie  |  2IE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1005840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04 | EN QUOI EST-CE UNE INNOVATION 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CA28"/>
                </a:solidFill>
              </a:rPr>
              <a:t>Nouveauté • Usage réel • Valeur créée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58521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97280"/>
            <a:ext cx="11640312" cy="822960"/>
          </a:xfrm>
          <a:prstGeom prst="rect">
            <a:avLst/>
          </a:prstGeom>
          <a:solidFill>
            <a:srgbClr val="EDE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097280"/>
            <a:ext cx="73152" cy="82296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170432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A148C"/>
                </a:solidFill>
              </a:rPr>
              <a:t>« L'innovation est la capacité à apporter des solutions nouvelles à des problèmes existants, en créant de la valeur tangible pour un grand nombre. »  — Cours Innovation &amp; Créativité, 2IE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2011680"/>
            <a:ext cx="3657600" cy="4297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2011680"/>
            <a:ext cx="3657600" cy="50292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20299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🆕  NOUVEAUTÉ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4747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A1B9A"/>
                </a:solidFill>
              </a:defRPr>
            </a:pPr>
            <a:r>
              <a:t>Combinaison inédite de technologies :</a:t>
            </a:r>
          </a:p>
          <a:p>
            <a:pPr algn="l">
              <a:spcBef>
                <a:spcPts val="200"/>
              </a:spcBef>
            </a:pPr>
            <a:r>
              <a:rPr sz="1000" b="0" i="0">
                <a:solidFill>
                  <a:srgbClr val="212121"/>
                </a:solidFill>
              </a:rPr>
              <a:t>• Énergie solaire off-grid + IoT + Mobile Money</a:t>
            </a:r>
          </a:p>
          <a:p>
            <a:pPr algn="l">
              <a:spcBef>
                <a:spcPts val="200"/>
              </a:spcBef>
            </a:pPr>
            <a:r>
              <a:rPr sz="1000" b="0" i="0">
                <a:solidFill>
                  <a:srgbClr val="212121"/>
                </a:solidFill>
              </a:rPr>
              <a:t>• Contrôle à distance par SMS/application</a:t>
            </a:r>
          </a:p>
          <a:p>
            <a:pPr algn="l">
              <a:spcBef>
                <a:spcPts val="200"/>
              </a:spcBef>
            </a:pPr>
            <a:r>
              <a:rPr sz="1000" b="0" i="0">
                <a:solidFill>
                  <a:srgbClr val="212121"/>
                </a:solidFill>
              </a:rPr>
              <a:t>• Modèle PAYG inexistant avant 2010 en Afrique</a:t>
            </a:r>
          </a:p>
          <a:p>
            <a:pPr algn="l">
              <a:spcBef>
                <a:spcPts val="400"/>
              </a:spcBef>
            </a:pPr>
            <a:r>
              <a:rPr sz="1100" b="0" i="0">
                <a:solidFill>
                  <a:srgbClr val="6A1B9A"/>
                </a:solidFill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100" b="1" i="0">
                <a:solidFill>
                  <a:srgbClr val="6A1B9A"/>
                </a:solidFill>
              </a:rPr>
              <a:t>Innovation de modèle économique :</a:t>
            </a:r>
          </a:p>
          <a:p>
            <a:pPr algn="l">
              <a:spcBef>
                <a:spcPts val="200"/>
              </a:spcBef>
            </a:pPr>
            <a:r>
              <a:rPr sz="1000" b="0" i="0">
                <a:solidFill>
                  <a:srgbClr val="212121"/>
                </a:solidFill>
              </a:rPr>
              <a:t>• Convertit un CAPEX (investissement) en OPEX (usage quotidien)</a:t>
            </a:r>
          </a:p>
          <a:p>
            <a:pPr algn="l">
              <a:spcBef>
                <a:spcPts val="200"/>
              </a:spcBef>
            </a:pPr>
            <a:r>
              <a:rPr sz="1000" b="0" i="0">
                <a:solidFill>
                  <a:srgbClr val="212121"/>
                </a:solidFill>
              </a:rPr>
              <a:t>• Adapté au revenu journalier des ménages ruraux africains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06240" y="2011680"/>
            <a:ext cx="3657600" cy="4297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06240" y="2011680"/>
            <a:ext cx="3657600" cy="5029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79" y="20299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✅  USAGE RÉEL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79" y="2606040"/>
            <a:ext cx="34747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E7D32"/>
                </a:solidFill>
              </a:defRPr>
            </a:pPr>
            <a:r>
              <a:t>Adoption massive et mesurable :</a:t>
            </a:r>
          </a:p>
          <a:p>
            <a:pPr algn="l">
              <a:spcBef>
                <a:spcPts val="200"/>
              </a:spcBef>
            </a:pPr>
            <a:r>
              <a:rPr sz="1000" b="0" i="0">
                <a:solidFill>
                  <a:srgbClr val="212121"/>
                </a:solidFill>
              </a:rPr>
              <a:t>• 5 millions de foyers connectés (2024)</a:t>
            </a:r>
          </a:p>
          <a:p>
            <a:pPr algn="l">
              <a:spcBef>
                <a:spcPts val="200"/>
              </a:spcBef>
            </a:pPr>
            <a:r>
              <a:rPr sz="1000" b="0" i="0">
                <a:solidFill>
                  <a:srgbClr val="212121"/>
                </a:solidFill>
              </a:rPr>
              <a:t>• 30+ millions de bénéficiaires directs</a:t>
            </a:r>
          </a:p>
          <a:p>
            <a:pPr algn="l">
              <a:spcBef>
                <a:spcPts val="200"/>
              </a:spcBef>
            </a:pPr>
            <a:r>
              <a:rPr sz="1000" b="0" i="0">
                <a:solidFill>
                  <a:srgbClr val="212121"/>
                </a:solidFill>
              </a:rPr>
              <a:t>• Présence dans 6+ pays africains</a:t>
            </a:r>
          </a:p>
          <a:p>
            <a:pPr algn="l">
              <a:spcBef>
                <a:spcPts val="400"/>
              </a:spcBef>
            </a:pPr>
            <a:r>
              <a:rPr sz="1100" b="0" i="0">
                <a:solidFill>
                  <a:srgbClr val="2E7D32"/>
                </a:solidFill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100" b="1" i="0">
                <a:solidFill>
                  <a:srgbClr val="2E7D32"/>
                </a:solidFill>
              </a:rPr>
              <a:t>Appropriation locale :</a:t>
            </a:r>
          </a:p>
          <a:p>
            <a:pPr algn="l">
              <a:spcBef>
                <a:spcPts val="200"/>
              </a:spcBef>
            </a:pPr>
            <a:r>
              <a:rPr sz="1000" b="0" i="0">
                <a:solidFill>
                  <a:srgbClr val="212121"/>
                </a:solidFill>
              </a:rPr>
              <a:t>• Utilisation quotidienne via M-Pesa (pratique connue)</a:t>
            </a:r>
          </a:p>
          <a:p>
            <a:pPr algn="l">
              <a:spcBef>
                <a:spcPts val="200"/>
              </a:spcBef>
            </a:pPr>
            <a:r>
              <a:rPr sz="1000" b="0" i="0">
                <a:solidFill>
                  <a:srgbClr val="212121"/>
                </a:solidFill>
              </a:rPr>
              <a:t>• Maintenance locale, réseau de vendeurs communautaires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38160" y="2011680"/>
            <a:ext cx="3657600" cy="4297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38160" y="2011680"/>
            <a:ext cx="3657600" cy="50292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0" y="20299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💡  VALEUR CRÉÉE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2606040"/>
            <a:ext cx="34747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D47A1"/>
                </a:solidFill>
              </a:defRPr>
            </a:pPr>
            <a:r>
              <a:t>Pour les ménages :</a:t>
            </a:r>
          </a:p>
          <a:p>
            <a:pPr algn="l">
              <a:spcBef>
                <a:spcPts val="200"/>
              </a:spcBef>
            </a:pPr>
            <a:r>
              <a:rPr sz="1000" b="0" i="0">
                <a:solidFill>
                  <a:srgbClr val="212121"/>
                </a:solidFill>
              </a:rPr>
              <a:t>• Économie : 30–50 % vs kérosène/piles/recharge téléphone</a:t>
            </a:r>
          </a:p>
          <a:p>
            <a:pPr algn="l">
              <a:spcBef>
                <a:spcPts val="200"/>
              </a:spcBef>
            </a:pPr>
            <a:r>
              <a:rPr sz="1000" b="0" i="0">
                <a:solidFill>
                  <a:srgbClr val="212121"/>
                </a:solidFill>
              </a:rPr>
              <a:t>• Santé : zéro fumée, réduction maladies respiratoires</a:t>
            </a:r>
          </a:p>
          <a:p>
            <a:pPr algn="l">
              <a:spcBef>
                <a:spcPts val="200"/>
              </a:spcBef>
            </a:pPr>
            <a:r>
              <a:rPr sz="1000" b="0" i="0">
                <a:solidFill>
                  <a:srgbClr val="212121"/>
                </a:solidFill>
              </a:rPr>
              <a:t>• Éducation : 3h+ d'éclairage supplémentaire pour les enfants</a:t>
            </a:r>
          </a:p>
          <a:p>
            <a:pPr algn="l">
              <a:spcBef>
                <a:spcPts val="400"/>
              </a:spcBef>
            </a:pPr>
            <a:r>
              <a:rPr sz="1100" b="0" i="0">
                <a:solidFill>
                  <a:srgbClr val="0D47A1"/>
                </a:solidFill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100" b="1" i="0">
                <a:solidFill>
                  <a:srgbClr val="0D47A1"/>
                </a:solidFill>
              </a:rPr>
              <a:t>Pour le système :</a:t>
            </a:r>
          </a:p>
          <a:p>
            <a:pPr algn="l">
              <a:spcBef>
                <a:spcPts val="200"/>
              </a:spcBef>
            </a:pPr>
            <a:r>
              <a:rPr sz="1000" b="0" i="0">
                <a:solidFill>
                  <a:srgbClr val="212121"/>
                </a:solidFill>
              </a:rPr>
              <a:t>• Réduction CO₂ : évite 1–2 tonnes CO₂/an/foyer</a:t>
            </a:r>
          </a:p>
          <a:p>
            <a:pPr algn="l">
              <a:spcBef>
                <a:spcPts val="200"/>
              </a:spcBef>
            </a:pPr>
            <a:r>
              <a:rPr sz="1000" b="0" i="0">
                <a:solidFill>
                  <a:srgbClr val="212121"/>
                </a:solidFill>
              </a:rPr>
              <a:t>• Inclusion financière via historique de crédit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0" y="6565392"/>
            <a:ext cx="12188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Innovation &amp; Créativité  |  Domaine de l'Énergie  |  2IE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1005840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05 | FORCES ET LIMITES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Analyse critique de la solution M-KOPA Solar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58521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143000"/>
            <a:ext cx="5394960" cy="5166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143000"/>
            <a:ext cx="5394960" cy="4572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152144"/>
            <a:ext cx="521208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✅  FORCES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664208"/>
            <a:ext cx="52120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"/>
            </a:pPr>
          </a:p>
          <a:p>
            <a:pPr algn="l">
              <a:spcBef>
                <a:spcPts val="500"/>
              </a:spcBef>
            </a:pPr>
            <a:r>
              <a:rPr sz="1100" b="1" i="0">
                <a:solidFill>
                  <a:srgbClr val="2E7D32"/>
                </a:solidFill>
              </a:rPr>
              <a:t>▶ Accessibilité financière</a:t>
            </a:r>
          </a:p>
          <a:p>
            <a:pPr algn="l">
              <a:spcBef>
                <a:spcPts val="200"/>
              </a:spcBef>
            </a:pPr>
            <a:r>
              <a:rPr sz="1000" b="0" i="0">
                <a:solidFill>
                  <a:srgbClr val="212121"/>
                </a:solidFill>
              </a:rPr>
              <a:t>Modèle PAYG adapté aux revenus irréguliers des ménages pauvres (~1-2 $/jour). Pas besoin d'emprunt bancaire classique.</a:t>
            </a:r>
          </a:p>
          <a:p>
            <a:pPr algn="l">
              <a:spcBef>
                <a:spcPts val="500"/>
              </a:spcBef>
            </a:pPr>
            <a:r>
              <a:rPr sz="1100" b="1" i="0">
                <a:solidFill>
                  <a:srgbClr val="2E7D32"/>
                </a:solidFill>
              </a:rPr>
              <a:t>▶ Innovation systémique</a:t>
            </a:r>
          </a:p>
          <a:p>
            <a:pPr algn="l">
              <a:spcBef>
                <a:spcPts val="200"/>
              </a:spcBef>
            </a:pPr>
            <a:r>
              <a:rPr sz="1000" b="0" i="0">
                <a:solidFill>
                  <a:srgbClr val="212121"/>
                </a:solidFill>
              </a:rPr>
              <a:t>Combine 3 technologies : énergie solaire + IoT/contrôle + paiement mobile. Synergie unique et disruptive.</a:t>
            </a:r>
          </a:p>
          <a:p>
            <a:pPr algn="l">
              <a:spcBef>
                <a:spcPts val="500"/>
              </a:spcBef>
            </a:pPr>
            <a:r>
              <a:rPr sz="1100" b="1" i="0">
                <a:solidFill>
                  <a:srgbClr val="2E7D32"/>
                </a:solidFill>
              </a:rPr>
              <a:t>▶ Impact social prouvé</a:t>
            </a:r>
          </a:p>
          <a:p>
            <a:pPr algn="l">
              <a:spcBef>
                <a:spcPts val="200"/>
              </a:spcBef>
            </a:pPr>
            <a:r>
              <a:rPr sz="1000" b="0" i="0">
                <a:solidFill>
                  <a:srgbClr val="212121"/>
                </a:solidFill>
              </a:rPr>
              <a:t>Études d'impact : +3h d'éclairage/soir, -40% dépenses énergie, réduction CO₂, amélioration résultats scolaires.</a:t>
            </a:r>
          </a:p>
          <a:p>
            <a:pPr algn="l">
              <a:spcBef>
                <a:spcPts val="500"/>
              </a:spcBef>
            </a:pPr>
            <a:r>
              <a:rPr sz="1100" b="1" i="0">
                <a:solidFill>
                  <a:srgbClr val="2E7D32"/>
                </a:solidFill>
              </a:rPr>
              <a:t>▶ Scalabilité</a:t>
            </a:r>
          </a:p>
          <a:p>
            <a:pPr algn="l">
              <a:spcBef>
                <a:spcPts val="200"/>
              </a:spcBef>
            </a:pPr>
            <a:r>
              <a:rPr sz="1000" b="0" i="0">
                <a:solidFill>
                  <a:srgbClr val="212121"/>
                </a:solidFill>
              </a:rPr>
              <a:t>Modèle réplicable dans tout pays avec pénétration mobile money. Expansion rapide à travers l'Afrique.</a:t>
            </a:r>
          </a:p>
          <a:p>
            <a:pPr algn="l">
              <a:spcBef>
                <a:spcPts val="500"/>
              </a:spcBef>
            </a:pPr>
            <a:r>
              <a:rPr sz="1100" b="1" i="0">
                <a:solidFill>
                  <a:srgbClr val="2E7D32"/>
                </a:solidFill>
              </a:rPr>
              <a:t>▶ Inclusion financière</a:t>
            </a:r>
          </a:p>
          <a:p>
            <a:pPr algn="l">
              <a:spcBef>
                <a:spcPts val="200"/>
              </a:spcBef>
            </a:pPr>
            <a:r>
              <a:rPr sz="1000" b="0" i="0">
                <a:solidFill>
                  <a:srgbClr val="212121"/>
                </a:solidFill>
              </a:rPr>
              <a:t>Crée un historique de crédit pour des clients non bancarisés. Ouvre l'accès à d'autres services financiers.</a:t>
            </a:r>
          </a:p>
          <a:p>
            <a:pPr algn="l">
              <a:spcBef>
                <a:spcPts val="500"/>
              </a:spcBef>
            </a:pPr>
            <a:r>
              <a:rPr sz="1100" b="1" i="0">
                <a:solidFill>
                  <a:srgbClr val="2E7D32"/>
                </a:solidFill>
              </a:rPr>
              <a:t>▶ Résilience technique</a:t>
            </a:r>
          </a:p>
          <a:p>
            <a:pPr algn="l">
              <a:spcBef>
                <a:spcPts val="200"/>
              </a:spcBef>
            </a:pPr>
            <a:r>
              <a:rPr sz="1000" b="0" i="0">
                <a:solidFill>
                  <a:srgbClr val="212121"/>
                </a:solidFill>
              </a:rPr>
              <a:t>Systèmes off-grid : indépendants du réseau national défaillant. Maintenance locale possible.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143000"/>
            <a:ext cx="5669280" cy="5166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143000"/>
            <a:ext cx="5669280" cy="4572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1152144"/>
            <a:ext cx="548640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⚠  LIMITES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664208"/>
            <a:ext cx="5486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"/>
            </a:pPr>
          </a:p>
          <a:p>
            <a:pPr algn="l">
              <a:spcBef>
                <a:spcPts val="500"/>
              </a:spcBef>
            </a:pPr>
            <a:r>
              <a:rPr sz="1100" b="1" i="0">
                <a:solidFill>
                  <a:srgbClr val="C62828"/>
                </a:solidFill>
              </a:rPr>
              <a:t>▶ Dépendance à la connectivité</a:t>
            </a:r>
          </a:p>
          <a:p>
            <a:pPr algn="l">
              <a:spcBef>
                <a:spcPts val="200"/>
              </a:spcBef>
            </a:pPr>
            <a:r>
              <a:rPr sz="1000" b="0" i="0">
                <a:solidFill>
                  <a:srgbClr val="212121"/>
                </a:solidFill>
              </a:rPr>
              <a:t>Le système nécessite une couverture réseau GSM pour le contrôle à distance et les paiements. Zones rurales reculées exclues.</a:t>
            </a:r>
          </a:p>
          <a:p>
            <a:pPr algn="l">
              <a:spcBef>
                <a:spcPts val="500"/>
              </a:spcBef>
            </a:pPr>
            <a:r>
              <a:rPr sz="1100" b="1" i="0">
                <a:solidFill>
                  <a:srgbClr val="C62828"/>
                </a:solidFill>
              </a:rPr>
              <a:t>▶ Puissance limitée</a:t>
            </a:r>
          </a:p>
          <a:p>
            <a:pPr algn="l">
              <a:spcBef>
                <a:spcPts val="200"/>
              </a:spcBef>
            </a:pPr>
            <a:r>
              <a:rPr sz="1000" b="0" i="0">
                <a:solidFill>
                  <a:srgbClr val="212121"/>
                </a:solidFill>
              </a:rPr>
              <a:t>Les kits de base (8-40W) ne couvrent que l'éclairage basique et les petits appareils. Insuffisant pour besoins productifs (moulin, réfrigérateur).</a:t>
            </a:r>
          </a:p>
          <a:p>
            <a:pPr algn="l">
              <a:spcBef>
                <a:spcPts val="500"/>
              </a:spcBef>
            </a:pPr>
            <a:r>
              <a:rPr sz="1100" b="1" i="0">
                <a:solidFill>
                  <a:srgbClr val="C62828"/>
                </a:solidFill>
              </a:rPr>
              <a:t>▶ Risque de surendettement</a:t>
            </a:r>
          </a:p>
          <a:p>
            <a:pPr algn="l">
              <a:spcBef>
                <a:spcPts val="200"/>
              </a:spcBef>
            </a:pPr>
            <a:r>
              <a:rPr sz="1000" b="0" i="0">
                <a:solidFill>
                  <a:srgbClr val="212121"/>
                </a:solidFill>
              </a:rPr>
              <a:t>Modèle de crédit : certains ménages accumulent des retards. Coupure automatique → perte de confiance.</a:t>
            </a:r>
          </a:p>
          <a:p>
            <a:pPr algn="l">
              <a:spcBef>
                <a:spcPts val="500"/>
              </a:spcBef>
            </a:pPr>
            <a:r>
              <a:rPr sz="1100" b="1" i="0">
                <a:solidFill>
                  <a:srgbClr val="C62828"/>
                </a:solidFill>
              </a:rPr>
              <a:t>▶ Fin de vie des équipements</a:t>
            </a:r>
          </a:p>
          <a:p>
            <a:pPr algn="l">
              <a:spcBef>
                <a:spcPts val="200"/>
              </a:spcBef>
            </a:pPr>
            <a:r>
              <a:rPr sz="1000" b="0" i="0">
                <a:solidFill>
                  <a:srgbClr val="212121"/>
                </a:solidFill>
              </a:rPr>
              <a:t>Gestion des batteries lithium-ion usagées non résolue. Risque de pollution environnementale en fin de vie.</a:t>
            </a:r>
          </a:p>
          <a:p>
            <a:pPr algn="l">
              <a:spcBef>
                <a:spcPts val="500"/>
              </a:spcBef>
            </a:pPr>
            <a:r>
              <a:rPr sz="1100" b="1" i="0">
                <a:solidFill>
                  <a:srgbClr val="C62828"/>
                </a:solidFill>
              </a:rPr>
              <a:t>▶ Dépendance au fournisseur</a:t>
            </a:r>
          </a:p>
          <a:p>
            <a:pPr algn="l">
              <a:spcBef>
                <a:spcPts val="200"/>
              </a:spcBef>
            </a:pPr>
            <a:r>
              <a:rPr sz="1000" b="0" i="0">
                <a:solidFill>
                  <a:srgbClr val="212121"/>
                </a:solidFill>
              </a:rPr>
              <a:t>Propriétaire du code de déblocage. Risque pour le client si l'entreprise fait faillite.</a:t>
            </a:r>
          </a:p>
          <a:p>
            <a:pPr algn="l">
              <a:spcBef>
                <a:spcPts val="500"/>
              </a:spcBef>
            </a:pPr>
            <a:r>
              <a:rPr sz="1100" b="1" i="0">
                <a:solidFill>
                  <a:srgbClr val="C62828"/>
                </a:solidFill>
              </a:rPr>
              <a:t>▶ Coût total élevé</a:t>
            </a:r>
          </a:p>
          <a:p>
            <a:pPr algn="l">
              <a:spcBef>
                <a:spcPts val="200"/>
              </a:spcBef>
            </a:pPr>
            <a:r>
              <a:rPr sz="1000" b="0" i="0">
                <a:solidFill>
                  <a:srgbClr val="212121"/>
                </a:solidFill>
              </a:rPr>
              <a:t>Sur 18 mois, le coût total dépasse souvent celui d'un système acheté directement. Taux d'intérêt implicite élevé.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0" y="6565392"/>
            <a:ext cx="12188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Innovation &amp; Créativité  |  Domaine de l'Énergie  |  2IE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1005840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06 | AMÉLIORATIONS PROPOSÉES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CA28"/>
                </a:solidFill>
              </a:rPr>
              <a:t>Pistes d'évolution et alternatives innovantes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58521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143000"/>
            <a:ext cx="11640312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143000"/>
            <a:ext cx="73152" cy="246888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07008"/>
            <a:ext cx="640080" cy="64008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216152"/>
            <a:ext cx="640080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A1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120700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695C"/>
                </a:solidFill>
              </a:rPr>
              <a:t>Mini-Réseaux Solaires Communautaires avec IA de gestion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1719072"/>
            <a:ext cx="105156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12121"/>
                </a:solidFill>
              </a:defRPr>
            </a:pPr>
            <a:r>
              <a:t>Justification : La limite principale du PAYG individuel est la faible puissance par foyer. Un mini-réseau partagé (village de 50-100 foyers) avec un panneau central de 5-10 kWc réduirait le coût unitaire de 40-60 % et permettrait d'alimenter des usages productifs (moulin à grain, réfrigération médicale, atelier artisanal).</a:t>
            </a:r>
          </a:p>
          <a:p>
            <a:pPr algn="l"/>
            <a:r>
              <a:rPr sz="500" b="0" i="0">
                <a:solidFill>
                  <a:srgbClr val="212121"/>
                </a:solidFill>
              </a:rPr>
              <a:t/>
            </a:r>
          </a:p>
          <a:p>
            <a:pPr algn="l"/>
            <a:r>
              <a:rPr sz="1100" b="0" i="0">
                <a:solidFill>
                  <a:srgbClr val="212121"/>
                </a:solidFill>
              </a:rPr>
              <a:t>Innovation proposée : Intégrer un algorithme de ML pour prédire la consommation villageoise, optimiser le stockage batterie et ajuster dynamiquement le tarif PAYG selon l'heure et l'usage. Approche « Smart Mini-Grid + PAYG collectif ». Réduction du coût par kWh de ~50 %.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34440" y="3337560"/>
            <a:ext cx="1463040" cy="292608"/>
          </a:xfrm>
          <a:prstGeom prst="rect">
            <a:avLst/>
          </a:prstGeom>
          <a:solidFill>
            <a:srgbClr val="E0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80160" y="334670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695C"/>
                </a:solidFill>
              </a:rPr>
              <a:t>Mini-Réseaux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0" y="3337560"/>
            <a:ext cx="1005840" cy="292608"/>
          </a:xfrm>
          <a:prstGeom prst="rect">
            <a:avLst/>
          </a:prstGeom>
          <a:solidFill>
            <a:srgbClr val="E0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334670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695C"/>
                </a:solidFill>
              </a:rPr>
              <a:t>IA / ML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60520" y="3337560"/>
            <a:ext cx="1737360" cy="292608"/>
          </a:xfrm>
          <a:prstGeom prst="rect">
            <a:avLst/>
          </a:prstGeom>
          <a:solidFill>
            <a:srgbClr val="E0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06240" y="334670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695C"/>
                </a:solidFill>
              </a:rPr>
              <a:t>Usage Productif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0" y="3337560"/>
            <a:ext cx="1371600" cy="292608"/>
          </a:xfrm>
          <a:prstGeom prst="rect">
            <a:avLst/>
          </a:prstGeom>
          <a:solidFill>
            <a:srgbClr val="E0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15000" y="334670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695C"/>
                </a:solidFill>
              </a:rPr>
              <a:t>Coût réduit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3749039"/>
            <a:ext cx="11640312" cy="2560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74320" y="3749039"/>
            <a:ext cx="73152" cy="2560320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3813048"/>
            <a:ext cx="640080" cy="640080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3822191"/>
            <a:ext cx="640080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A2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381304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8F00"/>
                </a:solidFill>
              </a:rPr>
              <a:t>Plateforme d'énergie-as-a-service avec données IoT ouvertes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34440" y="4325112"/>
            <a:ext cx="105156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12121"/>
                </a:solidFill>
              </a:defRPr>
            </a:pPr>
            <a:r>
              <a:t>Justification : Le modèle actuel génère des données IoT (consommation, paiements) captives chez M-KOPA. Ouvrir ces données (anonymisées) à un écosystème de startups locales permettrait de créer de nouveaux services : assurance paramétrique, crédit agricole basé sur l'historique de consommation, conseil en efficacité énergétique.</a:t>
            </a:r>
          </a:p>
          <a:p>
            <a:pPr algn="l"/>
            <a:r>
              <a:rPr sz="500" b="0" i="0">
                <a:solidFill>
                  <a:srgbClr val="212121"/>
                </a:solidFill>
              </a:rPr>
              <a:t/>
            </a:r>
          </a:p>
          <a:p>
            <a:pPr algn="l"/>
            <a:r>
              <a:rPr sz="1100" b="0" i="0">
                <a:solidFill>
                  <a:srgbClr val="212121"/>
                </a:solidFill>
              </a:rPr>
              <a:t>Innovation proposée : API ouverte + tableau de bord citoyen accessible via USSD (sans smartphone) permettant à chaque client de visualiser et contrôler sa consommation. Inspiré de la philosophie « données au service de l'utilisateur » (RGPD africain). Renforcement de l'autonomie et de la confiance.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234440" y="5989320"/>
            <a:ext cx="1554480" cy="292608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80160" y="5998464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8F00"/>
                </a:solidFill>
              </a:rPr>
              <a:t>Open Data IoT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0" y="5989320"/>
            <a:ext cx="1371600" cy="292608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788920" y="599846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8F00"/>
                </a:solidFill>
              </a:rPr>
              <a:t>API Ouverte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60520" y="5989320"/>
            <a:ext cx="2194560" cy="292608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6240" y="5998464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8F00"/>
                </a:solidFill>
              </a:rPr>
              <a:t>Inclusion financière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5989320"/>
            <a:ext cx="1371600" cy="292608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59" y="599846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8F00"/>
                </a:solidFill>
              </a:rPr>
              <a:t>Empowerment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0" y="6565392"/>
            <a:ext cx="12188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Innovation &amp; Créativité  |  Domaine de l'Énergie  |  2IE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0833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00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CONCLUSION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CA28"/>
                </a:solidFill>
              </a:rPr>
              <a:t>M-KOPA Solar : Un modèle d'innovation systémique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10515600" cy="36576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011680"/>
            <a:ext cx="10515600" cy="960120"/>
          </a:xfrm>
          <a:prstGeom prst="rect">
            <a:avLst/>
          </a:prstGeom>
          <a:solidFill>
            <a:srgbClr val="1555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11680"/>
            <a:ext cx="640080" cy="960120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057400"/>
            <a:ext cx="60350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FFFFFF"/>
                </a:solidFill>
              </a:rPr>
              <a:t>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05740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CA28"/>
                </a:solidFill>
              </a:rPr>
              <a:t>Innovation systémique réelle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46888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M-KOPA combine énergie, fintech et IoT pour résoudre un problème massif avec une approche inédite — une véritable innovation au sens du cours.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108960"/>
            <a:ext cx="10515600" cy="960120"/>
          </a:xfrm>
          <a:prstGeom prst="rect">
            <a:avLst/>
          </a:prstGeom>
          <a:solidFill>
            <a:srgbClr val="1555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3108960"/>
            <a:ext cx="640080" cy="960120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3154680"/>
            <a:ext cx="60350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FFFFFF"/>
                </a:solidFill>
              </a:rPr>
              <a:t>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315468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CA28"/>
                </a:solidFill>
              </a:rPr>
              <a:t>Valeur prouvée par l'usage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5661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5 millions de foyers, études d'impact mesurables, réplication dans 6 pays : l'adoption confirme l'innovation (pas seulement une invention de labo).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4206240"/>
            <a:ext cx="10515600" cy="960120"/>
          </a:xfrm>
          <a:prstGeom prst="rect">
            <a:avLst/>
          </a:prstGeom>
          <a:solidFill>
            <a:srgbClr val="1555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4206240"/>
            <a:ext cx="640080" cy="960120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251959"/>
            <a:ext cx="60350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FFFFFF"/>
                </a:solidFill>
              </a:rPr>
              <a:t>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251959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CA28"/>
                </a:solidFill>
              </a:rPr>
              <a:t>Leçons pour l'ingénieur innovant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46634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Les contraintes (pauvreté, absence réseau, faible alphabétisation) ont STIMULÉ la créativité. La simplicité + adaptation locale = clé du succès.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5303520"/>
            <a:ext cx="10515600" cy="960120"/>
          </a:xfrm>
          <a:prstGeom prst="rect">
            <a:avLst/>
          </a:prstGeom>
          <a:solidFill>
            <a:srgbClr val="1555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080" y="5303520"/>
            <a:ext cx="640080" cy="960120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5349240"/>
            <a:ext cx="60350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FFFFFF"/>
                </a:solidFill>
              </a:rPr>
              <a:t>🔮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534924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CA28"/>
                </a:solidFill>
              </a:rPr>
              <a:t>Pistes d'amélioration identifiées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7607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Mini-réseaux communautaires avec IA et API ouverte IoT pour dépasser les limites actuelles et amplifier l'impact social et économique.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4008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90CAF9"/>
                </a:solidFill>
              </a:rPr>
              <a:t>« Les contraintes sont une opportunité. Ici, vous apprendrez à innover. »
— Cours Innovation &amp; Créativité, Aimée Ouooba, 2IE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